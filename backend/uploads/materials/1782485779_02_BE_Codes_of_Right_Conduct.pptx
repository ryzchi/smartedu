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 id="2147483661" r:id="rId6"/>
    <p:sldMasterId id="214748366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Lst>
  <p:sldSz cy="6858000" cx="9144000"/>
  <p:notesSz cx="6858000" cy="9144000"/>
  <p:embeddedFontLst>
    <p:embeddedFont>
      <p:font typeface="Constantia"/>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Constantia-italic.fntdata"/><Relationship Id="rId20" Type="http://schemas.openxmlformats.org/officeDocument/2006/relationships/slide" Target="slides/slide12.xml"/><Relationship Id="rId41" Type="http://schemas.openxmlformats.org/officeDocument/2006/relationships/font" Target="fonts/Constantia-boldItalic.fntdata"/><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1.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slide" Target="slides/slide29.xml"/><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font" Target="fonts/Constantia-bold.fntdata"/><Relationship Id="rId16" Type="http://schemas.openxmlformats.org/officeDocument/2006/relationships/slide" Target="slides/slide8.xml"/><Relationship Id="rId38" Type="http://schemas.openxmlformats.org/officeDocument/2006/relationships/font" Target="fonts/Constantia-regular.fntdata"/><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195" name="Google Shape;195;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196" name="Google Shape;196;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02" name="Google Shape;202;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03" name="Google Shape;203;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08" name="Google Shape;208;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09" name="Google Shape;209;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14" name="Google Shape;214;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15" name="Google Shape;215;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20" name="Google Shape;22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21" name="Google Shape;221;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26" name="Google Shape;226;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27" name="Google Shape;22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3: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42" name="Google Shape;242;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43" name="Google Shape;243;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50" name="Google Shape;250;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51" name="Google Shape;251;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57" name="Google Shape;257;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58" name="Google Shape;258;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2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65" name="Google Shape;265;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66" name="Google Shape;266;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72" name="Google Shape;272;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73" name="Google Shape;273;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79" name="Google Shape;279;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80" name="Google Shape;280;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286" name="Google Shape;286;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
            <a:headEnd len="sm" w="sm" type="none"/>
            <a:tailEnd len="sm" w="sm" type="none"/>
          </a:ln>
        </p:spPr>
      </p:sp>
      <p:sp>
        <p:nvSpPr>
          <p:cNvPr id="287" name="Google Shape;287;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2"/>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FFC549"/>
              </a:buClr>
              <a:buSzPts val="5600"/>
              <a:buFont typeface="Calibri"/>
              <a:buNone/>
              <a:defRPr b="1" sz="5600">
                <a:solidFill>
                  <a:srgbClr val="FFC54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CCE1F3"/>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1pPr>
            <a:lvl2pPr indent="0" lvl="1"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2pPr>
            <a:lvl3pPr indent="0" lvl="2"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3pPr>
            <a:lvl4pPr indent="0" lvl="3"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4pPr>
            <a:lvl5pPr indent="0" lvl="4"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5pPr>
            <a:lvl6pPr indent="0" lvl="5"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6pPr>
            <a:lvl7pPr indent="0" lvl="6"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7pPr>
            <a:lvl8pPr indent="0" lvl="7"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8pPr>
            <a:lvl9pPr indent="0" lvl="8"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4"/>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4A566A"/>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3" name="Shape 43"/>
        <p:cNvGrpSpPr/>
        <p:nvPr/>
      </p:nvGrpSpPr>
      <p:grpSpPr>
        <a:xfrm>
          <a:off x="0" y="0"/>
          <a:ext cx="0" cy="0"/>
          <a:chOff x="0" y="0"/>
          <a:chExt cx="0" cy="0"/>
        </a:xfrm>
      </p:grpSpPr>
      <p:sp>
        <p:nvSpPr>
          <p:cNvPr id="44" name="Google Shape;44;p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4A566A"/>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6"/>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5"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0" name="Google Shape;50;p6"/>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5"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1" name="Google Shape;51;p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4A566A"/>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4" name="Shape 54"/>
        <p:cNvGrpSpPr/>
        <p:nvPr/>
      </p:nvGrpSpPr>
      <p:grpSpPr>
        <a:xfrm>
          <a:off x="0" y="0"/>
          <a:ext cx="0" cy="0"/>
          <a:chOff x="0" y="0"/>
          <a:chExt cx="0" cy="0"/>
        </a:xfrm>
      </p:grpSpPr>
      <p:sp>
        <p:nvSpPr>
          <p:cNvPr id="55" name="Google Shape;55;p7"/>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7" name="Google Shape;57;p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4A566A"/>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0" name="Shape 60"/>
        <p:cNvGrpSpPr/>
        <p:nvPr/>
      </p:nvGrpSpPr>
      <p:grpSpPr>
        <a:xfrm>
          <a:off x="0" y="0"/>
          <a:ext cx="0" cy="0"/>
          <a:chOff x="0" y="0"/>
          <a:chExt cx="0" cy="0"/>
        </a:xfrm>
      </p:grpSpPr>
      <p:sp>
        <p:nvSpPr>
          <p:cNvPr id="61" name="Google Shape;61;p8"/>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 type="body"/>
          </p:nvPr>
        </p:nvSpPr>
        <p:spPr>
          <a:xfrm rot="5400000">
            <a:off x="2377281" y="15081"/>
            <a:ext cx="4389437" cy="8229600"/>
          </a:xfrm>
          <a:prstGeom prst="rect">
            <a:avLst/>
          </a:prstGeom>
          <a:noFill/>
          <a:ln>
            <a:noFill/>
          </a:ln>
        </p:spPr>
        <p:txBody>
          <a:bodyPr anchorCtr="0" anchor="t" bIns="45700" lIns="91425" spcFirstLastPara="1" rIns="91425" wrap="square" tIns="45700">
            <a:no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3" name="Google Shape;63;p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4A566A"/>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6" name="Shape 66"/>
        <p:cNvGrpSpPr/>
        <p:nvPr/>
      </p:nvGrpSpPr>
      <p:grpSpPr>
        <a:xfrm>
          <a:off x="0" y="0"/>
          <a:ext cx="0" cy="0"/>
          <a:chOff x="0" y="0"/>
          <a:chExt cx="0" cy="0"/>
        </a:xfrm>
      </p:grpSpPr>
      <p:sp>
        <p:nvSpPr>
          <p:cNvPr id="67" name="Google Shape;67;p9"/>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9"/>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9" name="Google Shape;69;p9"/>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70" name="Google Shape;70;p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4A566A"/>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3" name="Shape 73"/>
        <p:cNvGrpSpPr/>
        <p:nvPr/>
      </p:nvGrpSpPr>
      <p:grpSpPr>
        <a:xfrm>
          <a:off x="0" y="0"/>
          <a:ext cx="0" cy="0"/>
          <a:chOff x="0" y="0"/>
          <a:chExt cx="0" cy="0"/>
        </a:xfrm>
      </p:grpSpPr>
      <p:sp>
        <p:nvSpPr>
          <p:cNvPr id="74" name="Google Shape;74;p10"/>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4A566A"/>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8" name="Shape 78"/>
        <p:cNvGrpSpPr/>
        <p:nvPr/>
      </p:nvGrpSpPr>
      <p:grpSpPr>
        <a:xfrm>
          <a:off x="0" y="0"/>
          <a:ext cx="0" cy="0"/>
          <a:chOff x="0" y="0"/>
          <a:chExt cx="0" cy="0"/>
        </a:xfrm>
      </p:grpSpPr>
      <p:sp>
        <p:nvSpPr>
          <p:cNvPr id="79" name="Google Shape;79;p11"/>
          <p:cNvSpPr txBox="1"/>
          <p:nvPr>
            <p:ph type="title"/>
          </p:nvPr>
        </p:nvSpPr>
        <p:spPr>
          <a:xfrm>
            <a:off x="457200" y="704088"/>
            <a:ext cx="8229600" cy="1143000"/>
          </a:xfrm>
          <a:prstGeom prst="rect">
            <a:avLst/>
          </a:prstGeom>
          <a:noFill/>
          <a:ln>
            <a:noFill/>
          </a:ln>
        </p:spPr>
        <p:txBody>
          <a:bodyPr anchorCtr="0" anchor="b" bIns="0" lIns="0" spcFirstLastPara="1" rIns="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1"/>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1" name="Google Shape;81;p11"/>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2" name="Google Shape;82;p11"/>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40" lvl="3" marL="1828800" algn="l">
              <a:spcBef>
                <a:spcPts val="320"/>
              </a:spcBef>
              <a:spcAft>
                <a:spcPts val="0"/>
              </a:spcAft>
              <a:buSzPts val="1040"/>
              <a:buChar char="⚫"/>
              <a:defRPr sz="1600"/>
            </a:lvl4pPr>
            <a:lvl5pPr indent="-294640" lvl="4" marL="2286000" algn="l">
              <a:spcBef>
                <a:spcPts val="320"/>
              </a:spcBef>
              <a:spcAft>
                <a:spcPts val="0"/>
              </a:spcAft>
              <a:buSzPts val="1040"/>
              <a:buChar char="⚫"/>
              <a:defRPr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11"/>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40" lvl="3" marL="1828800" algn="l">
              <a:spcBef>
                <a:spcPts val="320"/>
              </a:spcBef>
              <a:spcAft>
                <a:spcPts val="0"/>
              </a:spcAft>
              <a:buSzPts val="1040"/>
              <a:buChar char="⚫"/>
              <a:defRPr sz="1600"/>
            </a:lvl4pPr>
            <a:lvl5pPr indent="-294640" lvl="4" marL="2286000" algn="l">
              <a:spcBef>
                <a:spcPts val="320"/>
              </a:spcBef>
              <a:spcAft>
                <a:spcPts val="0"/>
              </a:spcAft>
              <a:buSzPts val="1040"/>
              <a:buChar char="⚫"/>
              <a:defRPr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1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4A566A"/>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8" name="Shape 98"/>
        <p:cNvGrpSpPr/>
        <p:nvPr/>
      </p:nvGrpSpPr>
      <p:grpSpPr>
        <a:xfrm>
          <a:off x="0" y="0"/>
          <a:ext cx="0" cy="0"/>
          <a:chOff x="0" y="0"/>
          <a:chExt cx="0" cy="0"/>
        </a:xfrm>
      </p:grpSpPr>
      <p:sp>
        <p:nvSpPr>
          <p:cNvPr id="99" name="Google Shape;99;p13"/>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9BDF0"/>
              </a:buClr>
              <a:buSzPts val="5600"/>
              <a:buFont typeface="Calibri"/>
              <a:buNone/>
              <a:defRPr b="1" sz="5600" cap="none">
                <a:solidFill>
                  <a:srgbClr val="49BDF0"/>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3"/>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1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CCE1F3"/>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1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1pPr>
            <a:lvl2pPr indent="0" lvl="1"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2pPr>
            <a:lvl3pPr indent="0" lvl="2"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3pPr>
            <a:lvl4pPr indent="0" lvl="3"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4pPr>
            <a:lvl5pPr indent="0" lvl="4"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5pPr>
            <a:lvl6pPr indent="0" lvl="5"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6pPr>
            <a:lvl7pPr indent="0" lvl="6"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7pPr>
            <a:lvl8pPr indent="0" lvl="7"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8pPr>
            <a:lvl9pPr indent="0" lvl="8" marL="0" marR="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4" name="Shape 114"/>
        <p:cNvGrpSpPr/>
        <p:nvPr/>
      </p:nvGrpSpPr>
      <p:grpSpPr>
        <a:xfrm>
          <a:off x="0" y="0"/>
          <a:ext cx="0" cy="0"/>
          <a:chOff x="0" y="0"/>
          <a:chExt cx="0" cy="0"/>
        </a:xfrm>
      </p:grpSpPr>
      <p:sp>
        <p:nvSpPr>
          <p:cNvPr id="115" name="Google Shape;115;p15"/>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Autofit/>
          </a:bodyPr>
          <a:lstStyle>
            <a:lvl1pPr lvl="0" algn="l">
              <a:spcBef>
                <a:spcPts val="0"/>
              </a:spcBef>
              <a:spcAft>
                <a:spcPts val="0"/>
              </a:spcAft>
              <a:buClr>
                <a:schemeClr val="dk2"/>
              </a:buClr>
              <a:buSzPts val="2000"/>
              <a:buFont typeface="Calibri"/>
              <a:buNone/>
              <a:defRPr b="1" sz="20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15"/>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Autofit/>
          </a:bodyPr>
          <a:lstStyle>
            <a:lvl1pPr indent="-228600" lvl="0" marL="457200" algn="l">
              <a:spcBef>
                <a:spcPts val="250"/>
              </a:spcBef>
              <a:spcAft>
                <a:spcPts val="0"/>
              </a:spcAft>
              <a:buSzPts val="1235"/>
              <a:buFont typeface="Constantia"/>
              <a:buNone/>
              <a:defRPr sz="1300"/>
            </a:lvl1pPr>
            <a:lvl2pPr indent="-293370"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8" lvl="3" marL="1828800" algn="l">
              <a:spcBef>
                <a:spcPts val="180"/>
              </a:spcBef>
              <a:spcAft>
                <a:spcPts val="0"/>
              </a:spcAft>
              <a:buSzPts val="585"/>
              <a:buChar char="⚫"/>
              <a:defRPr sz="900"/>
            </a:lvl4pPr>
            <a:lvl5pPr indent="-265748" lvl="4" marL="2286000" algn="l">
              <a:spcBef>
                <a:spcPts val="180"/>
              </a:spcBef>
              <a:spcAft>
                <a:spcPts val="0"/>
              </a:spcAft>
              <a:buSzPts val="585"/>
              <a:buChar char="⚫"/>
              <a:defRPr sz="9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17" name="Google Shape;117;p15"/>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118" name="Google Shape;118;p1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sz="1200">
                <a:solidFill>
                  <a:srgbClr val="4A566A"/>
                </a:solidFill>
                <a:latin typeface="Constantia"/>
                <a:ea typeface="Constantia"/>
                <a:cs typeface="Constantia"/>
                <a:sym typeface="Constanti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1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5"/>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0.xml"/><Relationship Id="rId3" Type="http://schemas.openxmlformats.org/officeDocument/2006/relationships/theme" Target="../theme/theme2.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1.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BC0057">
                  <a:alpha val="45098"/>
                </a:srgbClr>
              </a:gs>
              <a:gs pos="100000">
                <a:srgbClr val="FFC000">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11" name="Google Shape;11;p1"/>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D69200"/>
              </a:gs>
              <a:gs pos="80000">
                <a:srgbClr val="F40069"/>
              </a:gs>
              <a:gs pos="100000">
                <a:srgbClr val="F40069"/>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grpSp>
        <p:nvGrpSpPr>
          <p:cNvPr id="12" name="Google Shape;12;p1"/>
          <p:cNvGrpSpPr/>
          <p:nvPr/>
        </p:nvGrpSpPr>
        <p:grpSpPr>
          <a:xfrm>
            <a:off x="-29327" y="-14808"/>
            <a:ext cx="9198219" cy="1083716"/>
            <a:chOff x="-29322" y="-1971"/>
            <a:chExt cx="9198255" cy="1086266"/>
          </a:xfrm>
        </p:grpSpPr>
        <p:sp>
          <p:nvSpPr>
            <p:cNvPr id="13" name="Google Shape;13;p1"/>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DEA10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4" name="Google Shape;14;p1"/>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sp>
        <p:nvSpPr>
          <p:cNvPr id="15" name="Google Shape;15;p1"/>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9pPr>
          </a:lstStyle>
          <a:p/>
        </p:txBody>
      </p:sp>
      <p:sp>
        <p:nvSpPr>
          <p:cNvPr id="16" name="Google Shape;16;p1"/>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FEB80A"/>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5"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rgbClr val="FEB80A"/>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rgbClr val="00ADDC"/>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40"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80"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7" name="Google Shape;17;p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CCE1F3"/>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8" name="Google Shape;18;p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19" name="Google Shape;19;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1pPr>
            <a:lvl2pPr indent="0" lvl="1"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2pPr>
            <a:lvl3pPr indent="0" lvl="2"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3pPr>
            <a:lvl4pPr indent="0" lvl="3"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4pPr>
            <a:lvl5pPr indent="0" lvl="4"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5pPr>
            <a:lvl6pPr indent="0" lvl="5"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6pPr>
            <a:lvl7pPr indent="0" lvl="6"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7pPr>
            <a:lvl8pPr indent="0" lvl="7"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8pPr>
            <a:lvl9pPr indent="0" lvl="8"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26" name="Shape 26"/>
        <p:cNvGrpSpPr/>
        <p:nvPr/>
      </p:nvGrpSpPr>
      <p:grpSpPr>
        <a:xfrm>
          <a:off x="0" y="0"/>
          <a:ext cx="0" cy="0"/>
          <a:chOff x="0" y="0"/>
          <a:chExt cx="0" cy="0"/>
        </a:xfrm>
      </p:grpSpPr>
      <p:sp>
        <p:nvSpPr>
          <p:cNvPr id="27" name="Google Shape;27;p3"/>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BC0057">
                  <a:alpha val="45098"/>
                </a:srgbClr>
              </a:gs>
              <a:gs pos="100000">
                <a:srgbClr val="FFC000">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 name="Google Shape;28;p3"/>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D69200"/>
              </a:gs>
              <a:gs pos="80000">
                <a:srgbClr val="F40069"/>
              </a:gs>
              <a:gs pos="100000">
                <a:srgbClr val="F40069"/>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 name="Google Shape;29;p3"/>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30" name="Google Shape;30;p3"/>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FEB80A"/>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5"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FEB80A"/>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00ADDC"/>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40"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80"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4A566A"/>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2" name="Google Shape;32;p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33" name="Google Shape;33;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grpSp>
        <p:nvGrpSpPr>
          <p:cNvPr id="34" name="Google Shape;34;p3"/>
          <p:cNvGrpSpPr/>
          <p:nvPr/>
        </p:nvGrpSpPr>
        <p:grpSpPr>
          <a:xfrm>
            <a:off x="-29327" y="-14808"/>
            <a:ext cx="9198219" cy="1083716"/>
            <a:chOff x="-29322" y="-1971"/>
            <a:chExt cx="9198255" cy="1086266"/>
          </a:xfrm>
        </p:grpSpPr>
        <p:sp>
          <p:nvSpPr>
            <p:cNvPr id="35" name="Google Shape;35;p3"/>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DEA10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36" name="Google Shape;36;p3"/>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87" name="Shape 87"/>
        <p:cNvGrpSpPr/>
        <p:nvPr/>
      </p:nvGrpSpPr>
      <p:grpSpPr>
        <a:xfrm>
          <a:off x="0" y="0"/>
          <a:ext cx="0" cy="0"/>
          <a:chOff x="0" y="0"/>
          <a:chExt cx="0" cy="0"/>
        </a:xfrm>
      </p:grpSpPr>
      <p:sp>
        <p:nvSpPr>
          <p:cNvPr id="88" name="Google Shape;88;p12"/>
          <p:cNvSpPr/>
          <p:nvPr/>
        </p:nvSpPr>
        <p:spPr>
          <a:xfrm>
            <a:off x="-9525" y="-7937"/>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BC0057">
                  <a:alpha val="45098"/>
                </a:srgbClr>
              </a:gs>
              <a:gs pos="100000">
                <a:srgbClr val="FFC000">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sp>
        <p:nvSpPr>
          <p:cNvPr id="89" name="Google Shape;89;p12"/>
          <p:cNvSpPr/>
          <p:nvPr/>
        </p:nvSpPr>
        <p:spPr>
          <a:xfrm>
            <a:off x="4381500" y="-7937"/>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D69200"/>
              </a:gs>
              <a:gs pos="80000">
                <a:srgbClr val="F40069"/>
              </a:gs>
              <a:gs pos="100000">
                <a:srgbClr val="F40069"/>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lt1"/>
              </a:solidFill>
              <a:latin typeface="Arial"/>
              <a:ea typeface="Arial"/>
              <a:cs typeface="Arial"/>
              <a:sym typeface="Arial"/>
            </a:endParaRPr>
          </a:p>
        </p:txBody>
      </p:sp>
      <p:grpSp>
        <p:nvGrpSpPr>
          <p:cNvPr id="90" name="Google Shape;90;p12"/>
          <p:cNvGrpSpPr/>
          <p:nvPr/>
        </p:nvGrpSpPr>
        <p:grpSpPr>
          <a:xfrm>
            <a:off x="-29327" y="-14808"/>
            <a:ext cx="9198219" cy="1083716"/>
            <a:chOff x="-29322" y="-1971"/>
            <a:chExt cx="9198255" cy="1086266"/>
          </a:xfrm>
        </p:grpSpPr>
        <p:sp>
          <p:nvSpPr>
            <p:cNvPr id="91" name="Google Shape;91;p12"/>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DEA10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92" name="Google Shape;92;p12"/>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grpSp>
      <p:sp>
        <p:nvSpPr>
          <p:cNvPr id="93" name="Google Shape;93;p12"/>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lt2"/>
                </a:solidFill>
                <a:latin typeface="Calibri"/>
                <a:ea typeface="Calibri"/>
                <a:cs typeface="Calibri"/>
                <a:sym typeface="Calibri"/>
              </a:defRPr>
            </a:lvl9pPr>
          </a:lstStyle>
          <a:p/>
        </p:txBody>
      </p:sp>
      <p:sp>
        <p:nvSpPr>
          <p:cNvPr id="94" name="Google Shape;94;p12"/>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FEB80A"/>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5"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rgbClr val="FEB80A"/>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rgbClr val="00ADDC"/>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40"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80"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95" name="Google Shape;95;p1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CCE1F3"/>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96" name="Google Shape;96;p1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lt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lt1"/>
                </a:solidFill>
                <a:latin typeface="Arial"/>
                <a:ea typeface="Arial"/>
                <a:cs typeface="Arial"/>
                <a:sym typeface="Arial"/>
              </a:defRPr>
            </a:lvl9pPr>
          </a:lstStyle>
          <a:p/>
        </p:txBody>
      </p:sp>
      <p:sp>
        <p:nvSpPr>
          <p:cNvPr id="97" name="Google Shape;97;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1pPr>
            <a:lvl2pPr indent="0" lvl="1"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2pPr>
            <a:lvl3pPr indent="0" lvl="2"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3pPr>
            <a:lvl4pPr indent="0" lvl="3"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4pPr>
            <a:lvl5pPr indent="0" lvl="4"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5pPr>
            <a:lvl6pPr indent="0" lvl="5"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6pPr>
            <a:lvl7pPr indent="0" lvl="6"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7pPr>
            <a:lvl8pPr indent="0" lvl="7"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8pPr>
            <a:lvl9pPr indent="0" lvl="8" marL="0" marR="0" rtl="0" algn="r">
              <a:lnSpc>
                <a:spcPct val="100000"/>
              </a:lnSpc>
              <a:spcBef>
                <a:spcPts val="0"/>
              </a:spcBef>
              <a:spcAft>
                <a:spcPts val="0"/>
              </a:spcAft>
              <a:buClr>
                <a:srgbClr val="CCE1F3"/>
              </a:buClr>
              <a:buSzPts val="1200"/>
              <a:buFont typeface="Constantia"/>
              <a:buNone/>
              <a:defRPr b="0" i="0" sz="1200" u="none">
                <a:solidFill>
                  <a:srgbClr val="CCE1F3"/>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04" name="Shape 104"/>
        <p:cNvGrpSpPr/>
        <p:nvPr/>
      </p:nvGrpSpPr>
      <p:grpSpPr>
        <a:xfrm>
          <a:off x="0" y="0"/>
          <a:ext cx="0" cy="0"/>
          <a:chOff x="0" y="0"/>
          <a:chExt cx="0" cy="0"/>
        </a:xfrm>
      </p:grpSpPr>
      <p:sp>
        <p:nvSpPr>
          <p:cNvPr id="105" name="Google Shape;105;p14"/>
          <p:cNvSpPr/>
          <p:nvPr/>
        </p:nvSpPr>
        <p:spPr>
          <a:xfrm flipH="1" rot="-10380000">
            <a:off x="3165475" y="1108075"/>
            <a:ext cx="5257800" cy="4114800"/>
          </a:xfrm>
          <a:custGeom>
            <a:rect b="b" l="l" r="r" t="t"/>
            <a:pathLst>
              <a:path extrusionOk="0" h="4114800" w="5257800">
                <a:moveTo>
                  <a:pt x="0" y="0"/>
                </a:moveTo>
                <a:lnTo>
                  <a:pt x="5107774" y="0"/>
                </a:lnTo>
                <a:lnTo>
                  <a:pt x="5257800" y="150026"/>
                </a:lnTo>
                <a:lnTo>
                  <a:pt x="5257800" y="4114800"/>
                </a:lnTo>
                <a:lnTo>
                  <a:pt x="0" y="4114800"/>
                </a:lnTo>
                <a:lnTo>
                  <a:pt x="0" y="0"/>
                </a:lnTo>
                <a:lnTo>
                  <a:pt x="0" y="0"/>
                </a:lnTo>
                <a:close/>
              </a:path>
            </a:pathLst>
          </a:custGeom>
          <a:solidFill>
            <a:srgbClr val="FFFFFF"/>
          </a:solidFill>
          <a:ln cap="rnd" cmpd="sng" w="9525">
            <a:solidFill>
              <a:srgbClr val="C0C0C0"/>
            </a:solidFill>
            <a:prstDash val="solid"/>
            <a:miter lim="8000"/>
            <a:headEnd len="sm" w="sm" type="none"/>
            <a:tailEnd len="sm" w="sm" type="none"/>
          </a:ln>
          <a:effectLst>
            <a:outerShdw blurRad="63500" sx="98500" kx="98485" dir="7500041" dist="38499" sy="100079">
              <a:srgbClr val="000000">
                <a:alpha val="2509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 name="Google Shape;106;p14"/>
          <p:cNvSpPr/>
          <p:nvPr/>
        </p:nvSpPr>
        <p:spPr>
          <a:xfrm flipH="1" rot="-10380000">
            <a:off x="8004175" y="5359400"/>
            <a:ext cx="155575" cy="155575"/>
          </a:xfrm>
          <a:prstGeom prst="rtTriangle">
            <a:avLst/>
          </a:prstGeom>
          <a:solidFill>
            <a:srgbClr val="FFFFFF"/>
          </a:solidFill>
          <a:ln cap="flat" cmpd="sng" w="12700">
            <a:solidFill>
              <a:srgbClr val="FFFFFF"/>
            </a:solidFill>
            <a:prstDash val="solid"/>
            <a:bevel/>
            <a:headEnd len="sm" w="sm" type="none"/>
            <a:tailEnd len="sm" w="sm" type="none"/>
          </a:ln>
          <a:effectLst>
            <a:outerShdw blurRad="63500" dir="12899787" dist="6350">
              <a:srgbClr val="000000">
                <a:alpha val="47058"/>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 name="Google Shape;107;p14"/>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BC0057">
                  <a:alpha val="45098"/>
                </a:srgbClr>
              </a:gs>
              <a:gs pos="100000">
                <a:srgbClr val="FFC000">
                  <a:alpha val="54901"/>
                </a:srgbClr>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8" name="Google Shape;108;p14"/>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D69200"/>
              </a:gs>
              <a:gs pos="80000">
                <a:srgbClr val="F40069"/>
              </a:gs>
              <a:gs pos="100000">
                <a:srgbClr val="F40069"/>
              </a:gs>
            </a:gsLst>
            <a:lin ang="54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 name="Google Shape;109;p14"/>
          <p:cNvSpPr txBox="1"/>
          <p:nvPr>
            <p:ph type="title"/>
          </p:nvPr>
        </p:nvSpPr>
        <p:spPr>
          <a:xfrm>
            <a:off x="457200" y="704850"/>
            <a:ext cx="8229600" cy="1143000"/>
          </a:xfrm>
          <a:prstGeom prst="rect">
            <a:avLst/>
          </a:prstGeom>
          <a:noFill/>
          <a:ln>
            <a:noFill/>
          </a:ln>
        </p:spPr>
        <p:txBody>
          <a:bodyPr anchorCtr="0" anchor="b" bIns="0" lIns="0" spcFirstLastPara="1" rIns="0" wrap="square" tIns="45700">
            <a:noAutofit/>
          </a:bodyPr>
          <a:lstStyle>
            <a:lvl1pPr lvl="0"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1pPr>
            <a:lvl2pPr lvl="1"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2pPr>
            <a:lvl3pPr lvl="2"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3pPr>
            <a:lvl4pPr lvl="3"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4pPr>
            <a:lvl5pPr lvl="4"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5pPr>
            <a:lvl6pPr lvl="5"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6pPr>
            <a:lvl7pPr lvl="6"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7pPr>
            <a:lvl8pPr lvl="7"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8pPr>
            <a:lvl9pPr lvl="8" marR="0" rtl="0" algn="l">
              <a:spcBef>
                <a:spcPts val="0"/>
              </a:spcBef>
              <a:spcAft>
                <a:spcPts val="0"/>
              </a:spcAft>
              <a:buSzPts val="1400"/>
              <a:buNone/>
              <a:defRPr b="0" i="0" sz="5000" u="none" cap="none" strike="noStrike">
                <a:solidFill>
                  <a:schemeClr val="dk2"/>
                </a:solidFill>
                <a:latin typeface="Calibri"/>
                <a:ea typeface="Calibri"/>
                <a:cs typeface="Calibri"/>
                <a:sym typeface="Calibri"/>
              </a:defRPr>
            </a:lvl9pPr>
          </a:lstStyle>
          <a:p/>
        </p:txBody>
      </p:sp>
      <p:sp>
        <p:nvSpPr>
          <p:cNvPr id="110" name="Google Shape;110;p14"/>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lvl1pPr indent="-385445" lvl="0" marL="457200" marR="0" rtl="0" algn="l">
              <a:spcBef>
                <a:spcPts val="520"/>
              </a:spcBef>
              <a:spcAft>
                <a:spcPts val="0"/>
              </a:spcAft>
              <a:buClr>
                <a:srgbClr val="FEB80A"/>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5"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rgbClr val="FEB80A"/>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rgbClr val="00ADDC"/>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40"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80"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111" name="Google Shape;111;p1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200" u="none">
                <a:solidFill>
                  <a:srgbClr val="4A566A"/>
                </a:solidFill>
                <a:latin typeface="Constantia"/>
                <a:ea typeface="Constantia"/>
                <a:cs typeface="Constantia"/>
                <a:sym typeface="Constantia"/>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2" name="Google Shape;112;p1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3" name="Google Shape;113;p14"/>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1pPr>
            <a:lvl2pPr indent="0" lvl="1"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2pPr>
            <a:lvl3pPr indent="0" lvl="2"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3pPr>
            <a:lvl4pPr indent="0" lvl="3"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4pPr>
            <a:lvl5pPr indent="0" lvl="4"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5pPr>
            <a:lvl6pPr indent="0" lvl="5"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6pPr>
            <a:lvl7pPr indent="0" lvl="6"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7pPr>
            <a:lvl8pPr indent="0" lvl="7"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8pPr>
            <a:lvl9pPr indent="0" lvl="8" marL="0" marR="0" rtl="0" algn="r">
              <a:lnSpc>
                <a:spcPct val="100000"/>
              </a:lnSpc>
              <a:spcBef>
                <a:spcPts val="0"/>
              </a:spcBef>
              <a:spcAft>
                <a:spcPts val="0"/>
              </a:spcAft>
              <a:buClr>
                <a:srgbClr val="4A566A"/>
              </a:buClr>
              <a:buSzPts val="1200"/>
              <a:buFont typeface="Constantia"/>
              <a:buNone/>
              <a:defRPr b="0" i="0" sz="1200" u="none">
                <a:solidFill>
                  <a:srgbClr val="4A566A"/>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resources.workable.com/equal-opportunity-company-policy"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6"/>
          <p:cNvSpPr txBox="1"/>
          <p:nvPr>
            <p:ph idx="4294967295" type="ctrTitle"/>
          </p:nvPr>
        </p:nvSpPr>
        <p:spPr>
          <a:xfrm>
            <a:off x="0" y="4800600"/>
            <a:ext cx="8918448" cy="1828800"/>
          </a:xfrm>
          <a:prstGeom prst="rect">
            <a:avLst/>
          </a:prstGeom>
          <a:noFill/>
          <a:ln>
            <a:noFill/>
          </a:ln>
        </p:spPr>
        <p:txBody>
          <a:bodyPr anchorCtr="0" anchor="b" bIns="0" lIns="0" spcFirstLastPara="1" rIns="18275" wrap="square" tIns="0">
            <a:normAutofit fontScale="90000"/>
          </a:bodyPr>
          <a:lstStyle/>
          <a:p>
            <a:pPr indent="0" lvl="0" marL="0" marR="0" rtl="0" algn="r">
              <a:lnSpc>
                <a:spcPct val="100000"/>
              </a:lnSpc>
              <a:spcBef>
                <a:spcPts val="0"/>
              </a:spcBef>
              <a:spcAft>
                <a:spcPts val="0"/>
              </a:spcAft>
              <a:buClr>
                <a:srgbClr val="FFC549"/>
              </a:buClr>
              <a:buSzPct val="100000"/>
              <a:buFont typeface="Calibri"/>
              <a:buNone/>
            </a:pPr>
            <a:r>
              <a:rPr b="1" i="0" lang="en-US" sz="5600" u="none" cap="none" strike="noStrike">
                <a:solidFill>
                  <a:srgbClr val="FFC549"/>
                </a:solidFill>
                <a:latin typeface="Calibri"/>
                <a:ea typeface="Calibri"/>
                <a:cs typeface="Calibri"/>
                <a:sym typeface="Calibri"/>
              </a:rPr>
              <a:t>Codes of Right Conduct,</a:t>
            </a:r>
            <a:br>
              <a:rPr b="1" i="0" lang="en-US" sz="5600" u="none" cap="none" strike="noStrike">
                <a:solidFill>
                  <a:srgbClr val="FFC549"/>
                </a:solidFill>
                <a:latin typeface="Calibri"/>
                <a:ea typeface="Calibri"/>
                <a:cs typeface="Calibri"/>
                <a:sym typeface="Calibri"/>
              </a:rPr>
            </a:br>
            <a:r>
              <a:rPr b="1" i="0" lang="en-US" sz="5600" u="none" cap="none" strike="noStrike">
                <a:solidFill>
                  <a:srgbClr val="FFC549"/>
                </a:solidFill>
                <a:latin typeface="Calibri"/>
                <a:ea typeface="Calibri"/>
                <a:cs typeface="Calibri"/>
                <a:sym typeface="Calibri"/>
              </a:rPr>
              <a:t>Common good and Greatest good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17"/>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850"/>
              <a:buFont typeface="Noto Sans Symbols"/>
              <a:buNone/>
            </a:pPr>
            <a:r>
              <a:rPr b="1" i="0" lang="en-US" sz="3000" u="none" cap="none" strike="noStrike">
                <a:solidFill>
                  <a:schemeClr val="dk1"/>
                </a:solidFill>
                <a:latin typeface="Calibri"/>
                <a:ea typeface="Calibri"/>
                <a:cs typeface="Calibri"/>
                <a:sym typeface="Calibri"/>
              </a:rPr>
              <a:t>	Operating with integrity and with reference to codes of right conduct is playing an increasingly significant role for sustainable business today. This means businesses must operate using good and morally acceptable policies and practices.</a:t>
            </a:r>
            <a:endParaRPr/>
          </a:p>
        </p:txBody>
      </p:sp>
      <p:sp>
        <p:nvSpPr>
          <p:cNvPr id="131" name="Google Shape;131;p17"/>
          <p:cNvSpPr txBox="1"/>
          <p:nvPr/>
        </p:nvSpPr>
        <p:spPr>
          <a:xfrm>
            <a:off x="457200" y="3227387"/>
            <a:ext cx="8001000" cy="3478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000"/>
              <a:buFont typeface="Calibri"/>
              <a:buNone/>
            </a:pPr>
            <a:r>
              <a:rPr b="1" i="0" lang="en-US" sz="3000" u="none">
                <a:solidFill>
                  <a:schemeClr val="dk1"/>
                </a:solidFill>
                <a:latin typeface="Calibri"/>
                <a:ea typeface="Calibri"/>
                <a:cs typeface="Calibri"/>
                <a:sym typeface="Calibri"/>
              </a:rPr>
              <a:t>COMMON VS. GREATEST GOOD</a:t>
            </a:r>
            <a:endParaRPr/>
          </a:p>
          <a:p>
            <a:pPr indent="0" lvl="0" marL="0" marR="0" rtl="0" algn="l">
              <a:lnSpc>
                <a:spcPct val="100000"/>
              </a:lnSpc>
              <a:spcBef>
                <a:spcPts val="0"/>
              </a:spcBef>
              <a:spcAft>
                <a:spcPts val="0"/>
              </a:spcAft>
              <a:buClr>
                <a:schemeClr val="dk1"/>
              </a:buClr>
              <a:buSzPts val="1000"/>
              <a:buFont typeface="Arial"/>
              <a:buNone/>
            </a:pPr>
            <a:r>
              <a:t/>
            </a:r>
            <a:endParaRPr b="1" i="0" sz="1000" u="non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3000"/>
              <a:buFont typeface="Calibri"/>
              <a:buNone/>
            </a:pPr>
            <a:r>
              <a:rPr b="1" i="0" lang="en-US" sz="3000" u="none">
                <a:solidFill>
                  <a:schemeClr val="dk1"/>
                </a:solidFill>
                <a:latin typeface="Calibri"/>
                <a:ea typeface="Calibri"/>
                <a:cs typeface="Calibri"/>
                <a:sym typeface="Calibri"/>
              </a:rPr>
              <a:t>	The </a:t>
            </a:r>
            <a:r>
              <a:rPr b="1" i="1" lang="en-US" sz="3000" u="none">
                <a:solidFill>
                  <a:schemeClr val="dk1"/>
                </a:solidFill>
                <a:latin typeface="Calibri"/>
                <a:ea typeface="Calibri"/>
                <a:cs typeface="Calibri"/>
                <a:sym typeface="Calibri"/>
              </a:rPr>
              <a:t>common good </a:t>
            </a:r>
            <a:r>
              <a:rPr b="1" i="0" lang="en-US" sz="3000" u="none">
                <a:solidFill>
                  <a:schemeClr val="dk1"/>
                </a:solidFill>
                <a:latin typeface="Calibri"/>
                <a:ea typeface="Calibri"/>
                <a:cs typeface="Calibri"/>
                <a:sym typeface="Calibri"/>
              </a:rPr>
              <a:t>is that principle that whatever serves the most number of members in a community is considered good. The common good is usually whatever rules or actions are required to reduce the disharmony in the community.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850"/>
              <a:buFont typeface="Noto Sans Symbols"/>
              <a:buNone/>
            </a:pPr>
            <a:r>
              <a:rPr b="1" i="0" lang="en-US" sz="3000" u="none" cap="none" strike="noStrike">
                <a:solidFill>
                  <a:schemeClr val="dk1"/>
                </a:solidFill>
                <a:latin typeface="Calibri"/>
                <a:ea typeface="Calibri"/>
                <a:cs typeface="Calibri"/>
                <a:sym typeface="Calibri"/>
              </a:rPr>
              <a:t>	While the </a:t>
            </a:r>
            <a:r>
              <a:rPr b="1" i="1" lang="en-US" sz="3000" u="none" cap="none" strike="noStrike">
                <a:solidFill>
                  <a:schemeClr val="dk1"/>
                </a:solidFill>
                <a:latin typeface="Calibri"/>
                <a:ea typeface="Calibri"/>
                <a:cs typeface="Calibri"/>
                <a:sym typeface="Calibri"/>
              </a:rPr>
              <a:t>greatest good </a:t>
            </a:r>
            <a:r>
              <a:rPr b="1" i="0" lang="en-US" sz="3000" u="none" cap="none" strike="noStrike">
                <a:solidFill>
                  <a:schemeClr val="dk1"/>
                </a:solidFill>
                <a:latin typeface="Calibri"/>
                <a:ea typeface="Calibri"/>
                <a:cs typeface="Calibri"/>
                <a:sym typeface="Calibri"/>
              </a:rPr>
              <a:t>is the principle that there is a standard that people must cooperatively strive for to maximize the harmony in the community.</a:t>
            </a:r>
            <a:endParaRPr/>
          </a:p>
          <a:p>
            <a:pPr indent="0" lvl="0" marL="0" marR="0" rtl="0" algn="l">
              <a:lnSpc>
                <a:spcPct val="100000"/>
              </a:lnSpc>
              <a:spcBef>
                <a:spcPts val="400"/>
              </a:spcBef>
              <a:spcAft>
                <a:spcPts val="0"/>
              </a:spcAft>
              <a:buClr>
                <a:srgbClr val="FEB80A"/>
              </a:buClr>
              <a:buSzPts val="1900"/>
              <a:buFont typeface="Noto Sans Symbols"/>
              <a:buNone/>
            </a:pPr>
            <a:r>
              <a:t/>
            </a:r>
            <a:endParaRPr b="1" i="0" sz="20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FEB80A"/>
              </a:buClr>
              <a:buSzPts val="2850"/>
              <a:buFont typeface="Noto Sans Symbols"/>
              <a:buNone/>
            </a:pPr>
            <a:r>
              <a:rPr b="1" i="0" lang="en-US" sz="3000" u="none" cap="none" strike="noStrike">
                <a:solidFill>
                  <a:schemeClr val="dk1"/>
                </a:solidFill>
                <a:latin typeface="Calibri"/>
                <a:ea typeface="Calibri"/>
                <a:cs typeface="Calibri"/>
                <a:sym typeface="Calibri"/>
              </a:rPr>
              <a:t>	The common good is normally good under every system of objective or subjective measure. </a:t>
            </a:r>
            <a:endParaRPr/>
          </a:p>
        </p:txBody>
      </p:sp>
      <p:sp>
        <p:nvSpPr>
          <p:cNvPr id="137" name="Google Shape;137;p18"/>
          <p:cNvSpPr txBox="1"/>
          <p:nvPr/>
        </p:nvSpPr>
        <p:spPr>
          <a:xfrm>
            <a:off x="457200" y="4191000"/>
            <a:ext cx="8229600" cy="2133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000"/>
              <a:buFont typeface="Calibri"/>
              <a:buNone/>
            </a:pPr>
            <a:r>
              <a:rPr b="1" i="0" lang="en-US" sz="3000" u="none">
                <a:solidFill>
                  <a:schemeClr val="dk1"/>
                </a:solidFill>
                <a:latin typeface="Calibri"/>
                <a:ea typeface="Calibri"/>
                <a:cs typeface="Calibri"/>
                <a:sym typeface="Calibri"/>
              </a:rPr>
              <a:t>	Paying taxes in exchanges for services, or following laws and social norms in order not to break other people’s enjoyment are examples of common good.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0" st="0"/>
                                            </p:txEl>
                                          </p:spTgt>
                                        </p:tgtEl>
                                        <p:attrNameLst>
                                          <p:attrName>style.visibility</p:attrName>
                                        </p:attrNameLst>
                                      </p:cBhvr>
                                      <p:to>
                                        <p:strVal val="visible"/>
                                      </p:to>
                                    </p:set>
                                    <p:anim calcmode="lin" valueType="num">
                                      <p:cBhvr additive="base">
                                        <p:cTn dur="500"/>
                                        <p:tgtEl>
                                          <p:spTgt spid="13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1" st="1"/>
                                            </p:txEl>
                                          </p:spTgt>
                                        </p:tgtEl>
                                        <p:attrNameLst>
                                          <p:attrName>style.visibility</p:attrName>
                                        </p:attrNameLst>
                                      </p:cBhvr>
                                      <p:to>
                                        <p:strVal val="visible"/>
                                      </p:to>
                                    </p:set>
                                    <p:anim calcmode="lin" valueType="num">
                                      <p:cBhvr additive="base">
                                        <p:cTn dur="500"/>
                                        <p:tgtEl>
                                          <p:spTgt spid="13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6">
                                            <p:txEl>
                                              <p:pRg end="2" st="2"/>
                                            </p:txEl>
                                          </p:spTgt>
                                        </p:tgtEl>
                                        <p:attrNameLst>
                                          <p:attrName>style.visibility</p:attrName>
                                        </p:attrNameLst>
                                      </p:cBhvr>
                                      <p:to>
                                        <p:strVal val="visible"/>
                                      </p:to>
                                    </p:set>
                                    <p:anim calcmode="lin" valueType="num">
                                      <p:cBhvr additive="base">
                                        <p:cTn dur="500"/>
                                        <p:tgtEl>
                                          <p:spTgt spid="13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7"/>
                                        </p:tgtEl>
                                        <p:attrNameLst>
                                          <p:attrName>style.visibility</p:attrName>
                                        </p:attrNameLst>
                                      </p:cBhvr>
                                      <p:to>
                                        <p:strVal val="visible"/>
                                      </p:to>
                                    </p:set>
                                    <p:anim calcmode="lin" valueType="num">
                                      <p:cBhvr additive="base">
                                        <p:cTn dur="500"/>
                                        <p:tgtEl>
                                          <p:spTgt spid="137"/>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9"/>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850"/>
              <a:buFont typeface="Noto Sans Symbols"/>
              <a:buNone/>
            </a:pPr>
            <a:r>
              <a:rPr b="1" i="0" lang="en-US" sz="3000" u="none" cap="none" strike="noStrike">
                <a:solidFill>
                  <a:schemeClr val="dk1"/>
                </a:solidFill>
                <a:latin typeface="Calibri"/>
                <a:ea typeface="Calibri"/>
                <a:cs typeface="Calibri"/>
                <a:sym typeface="Calibri"/>
              </a:rPr>
              <a:t>	The </a:t>
            </a:r>
            <a:r>
              <a:rPr b="1" i="1" lang="en-US" sz="3000" u="none" cap="none" strike="noStrike">
                <a:solidFill>
                  <a:schemeClr val="dk1"/>
                </a:solidFill>
                <a:latin typeface="Calibri"/>
                <a:ea typeface="Calibri"/>
                <a:cs typeface="Calibri"/>
                <a:sym typeface="Calibri"/>
              </a:rPr>
              <a:t>greatest good </a:t>
            </a:r>
            <a:r>
              <a:rPr b="1" i="0" lang="en-US" sz="3000" u="none" cap="none" strike="noStrike">
                <a:solidFill>
                  <a:schemeClr val="dk1"/>
                </a:solidFill>
                <a:latin typeface="Calibri"/>
                <a:ea typeface="Calibri"/>
                <a:cs typeface="Calibri"/>
                <a:sym typeface="Calibri"/>
              </a:rPr>
              <a:t>is the higher order of good. It can be used for good purposes to address areas where the common good is not inclusive of groups of people. </a:t>
            </a:r>
            <a:endParaRPr/>
          </a:p>
          <a:p>
            <a:pPr indent="0" lvl="0" marL="0" marR="0" rtl="0" algn="l">
              <a:lnSpc>
                <a:spcPct val="100000"/>
              </a:lnSpc>
              <a:spcBef>
                <a:spcPts val="300"/>
              </a:spcBef>
              <a:spcAft>
                <a:spcPts val="0"/>
              </a:spcAft>
              <a:buClr>
                <a:srgbClr val="FEB80A"/>
              </a:buClr>
              <a:buSzPts val="1425"/>
              <a:buFont typeface="Noto Sans Symbols"/>
              <a:buNone/>
            </a:pPr>
            <a:r>
              <a:t/>
            </a:r>
            <a:endParaRPr b="1" i="0" sz="1500" u="none" cap="none" strike="noStrik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FEB80A"/>
              </a:buClr>
              <a:buSzPts val="2850"/>
              <a:buFont typeface="Noto Sans Symbols"/>
              <a:buNone/>
            </a:pPr>
            <a:r>
              <a:rPr b="1" i="0" lang="en-US" sz="3000" u="none" cap="none" strike="noStrike">
                <a:solidFill>
                  <a:schemeClr val="dk1"/>
                </a:solidFill>
                <a:latin typeface="Calibri"/>
                <a:ea typeface="Calibri"/>
                <a:cs typeface="Calibri"/>
                <a:sym typeface="Calibri"/>
              </a:rPr>
              <a:t>	Individually, people contribute on a daily basis to the common good like when people wait for their turns, when they don’t take more than they need and leave some for others, when they work cooperatively on common or group goals, when they treat others as they treat themselves. </a:t>
            </a:r>
            <a:endParaRPr/>
          </a:p>
          <a:p>
            <a:pPr indent="0" lvl="0" marL="0" marR="0" rtl="0" algn="l">
              <a:lnSpc>
                <a:spcPct val="100000"/>
              </a:lnSpc>
              <a:spcBef>
                <a:spcPts val="400"/>
              </a:spcBef>
              <a:spcAft>
                <a:spcPts val="0"/>
              </a:spcAft>
              <a:buClr>
                <a:srgbClr val="FEB80A"/>
              </a:buClr>
              <a:buSzPts val="1900"/>
              <a:buFont typeface="Noto Sans Symbols"/>
              <a:buNone/>
            </a:pPr>
            <a:r>
              <a:t/>
            </a:r>
            <a:endParaRPr b="1" i="0" sz="2000" u="none" cap="none" strike="noStrik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 calcmode="lin" valueType="num">
                                      <p:cBhvr additive="base">
                                        <p:cTn dur="500"/>
                                        <p:tgtEl>
                                          <p:spTgt spid="14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 calcmode="lin" valueType="num">
                                      <p:cBhvr additive="base">
                                        <p:cTn dur="500"/>
                                        <p:tgtEl>
                                          <p:spTgt spid="14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 calcmode="lin" valueType="num">
                                      <p:cBhvr additive="base">
                                        <p:cTn dur="500"/>
                                        <p:tgtEl>
                                          <p:spTgt spid="14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 calcmode="lin" valueType="num">
                                      <p:cBhvr additive="base">
                                        <p:cTn dur="500"/>
                                        <p:tgtEl>
                                          <p:spTgt spid="14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anim calcmode="lin" valueType="num">
                                      <p:cBhvr additive="base">
                                        <p:cTn dur="500"/>
                                        <p:tgtEl>
                                          <p:spTgt spid="14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0"/>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850"/>
              <a:buFont typeface="Noto Sans Symbols"/>
              <a:buNone/>
            </a:pPr>
            <a:r>
              <a:rPr b="1" i="0" lang="en-US" sz="3000" u="none">
                <a:solidFill>
                  <a:schemeClr val="dk1"/>
                </a:solidFill>
                <a:latin typeface="Calibri"/>
                <a:ea typeface="Calibri"/>
                <a:cs typeface="Calibri"/>
                <a:sym typeface="Calibri"/>
              </a:rPr>
              <a:t>	Individually, people can also contribute to a greatest good like when they undertake an action that provides an example for others to follow because of the obvious benefits or improvement for the common good. </a:t>
            </a:r>
            <a:endParaRPr/>
          </a:p>
          <a:p>
            <a:pPr indent="0" lvl="0" marL="0" marR="0" rtl="0" algn="l">
              <a:lnSpc>
                <a:spcPct val="100000"/>
              </a:lnSpc>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
                                            <p:txEl>
                                              <p:pRg end="0" st="0"/>
                                            </p:txEl>
                                          </p:spTgt>
                                        </p:tgtEl>
                                        <p:attrNameLst>
                                          <p:attrName>style.visibility</p:attrName>
                                        </p:attrNameLst>
                                      </p:cBhvr>
                                      <p:to>
                                        <p:strVal val="visible"/>
                                      </p:to>
                                    </p:set>
                                    <p:anim calcmode="lin" valueType="num">
                                      <p:cBhvr additive="base">
                                        <p:cTn dur="500"/>
                                        <p:tgtEl>
                                          <p:spTgt spid="14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
                                            <p:txEl>
                                              <p:pRg end="1" st="1"/>
                                            </p:txEl>
                                          </p:spTgt>
                                        </p:tgtEl>
                                        <p:attrNameLst>
                                          <p:attrName>style.visibility</p:attrName>
                                        </p:attrNameLst>
                                      </p:cBhvr>
                                      <p:to>
                                        <p:strVal val="visible"/>
                                      </p:to>
                                    </p:set>
                                    <p:anim calcmode="lin" valueType="num">
                                      <p:cBhvr additive="base">
                                        <p:cTn dur="500"/>
                                        <p:tgtEl>
                                          <p:spTgt spid="14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7">
                                            <p:txEl>
                                              <p:pRg end="2" st="2"/>
                                            </p:txEl>
                                          </p:spTgt>
                                        </p:tgtEl>
                                        <p:attrNameLst>
                                          <p:attrName>style.visibility</p:attrName>
                                        </p:attrNameLst>
                                      </p:cBhvr>
                                      <p:to>
                                        <p:strVal val="visible"/>
                                      </p:to>
                                    </p:set>
                                    <p:anim calcmode="lin" valueType="num">
                                      <p:cBhvr additive="base">
                                        <p:cTn dur="500"/>
                                        <p:tgtEl>
                                          <p:spTgt spid="14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850"/>
              <a:buFont typeface="Noto Sans Symbols"/>
              <a:buNone/>
            </a:pPr>
            <a:r>
              <a:rPr b="1" i="0" lang="en-US" sz="3000" u="none">
                <a:solidFill>
                  <a:schemeClr val="dk1"/>
                </a:solidFill>
                <a:latin typeface="Calibri"/>
                <a:ea typeface="Calibri"/>
                <a:cs typeface="Calibri"/>
                <a:sym typeface="Calibri"/>
              </a:rPr>
              <a:t>E</a:t>
            </a:r>
            <a:r>
              <a:rPr b="1" i="0" lang="en-US" sz="2600" u="none">
                <a:solidFill>
                  <a:schemeClr val="dk1"/>
                </a:solidFill>
                <a:latin typeface="Constantia"/>
                <a:ea typeface="Constantia"/>
                <a:cs typeface="Constantia"/>
                <a:sym typeface="Constantia"/>
              </a:rPr>
              <a:t>nvironmental Policy</a:t>
            </a:r>
            <a:endParaRPr/>
          </a:p>
          <a:p>
            <a:pPr indent="-156845" lvl="0" marL="0" marR="0" rtl="0" algn="l">
              <a:lnSpc>
                <a:spcPct val="100000"/>
              </a:lnSpc>
              <a:spcBef>
                <a:spcPts val="520"/>
              </a:spcBef>
              <a:spcAft>
                <a:spcPts val="0"/>
              </a:spcAft>
              <a:buClr>
                <a:srgbClr val="FEB80A"/>
              </a:buClr>
              <a:buSzPts val="2470"/>
              <a:buFont typeface="Noto Sans Symbols"/>
              <a:buChar char="⚫"/>
            </a:pPr>
            <a:r>
              <a:rPr b="1" i="0" lang="en-US" sz="2600" u="none">
                <a:solidFill>
                  <a:schemeClr val="dk1"/>
                </a:solidFill>
                <a:latin typeface="Constantia"/>
                <a:ea typeface="Constantia"/>
                <a:cs typeface="Constantia"/>
                <a:sym typeface="Constantia"/>
              </a:rPr>
              <a:t>Common Good</a:t>
            </a:r>
            <a:r>
              <a:rPr b="0" i="0" lang="en-US" sz="2600" u="none">
                <a:solidFill>
                  <a:schemeClr val="dk1"/>
                </a:solidFill>
                <a:latin typeface="Constantia"/>
                <a:ea typeface="Constantia"/>
                <a:cs typeface="Constantia"/>
                <a:sym typeface="Constantia"/>
              </a:rPr>
              <a:t>: Implementing regulations to reduce air and water pollution, which benefits everyone in the community by promoting a healthier environment and better quality of life.</a:t>
            </a:r>
            <a:endParaRPr/>
          </a:p>
          <a:p>
            <a:pPr indent="-156845" lvl="0" marL="0" marR="0" rtl="0" algn="l">
              <a:lnSpc>
                <a:spcPct val="100000"/>
              </a:lnSpc>
              <a:spcBef>
                <a:spcPts val="520"/>
              </a:spcBef>
              <a:spcAft>
                <a:spcPts val="0"/>
              </a:spcAft>
              <a:buClr>
                <a:srgbClr val="FEB80A"/>
              </a:buClr>
              <a:buSzPts val="2470"/>
              <a:buFont typeface="Noto Sans Symbols"/>
              <a:buChar char="⚫"/>
            </a:pPr>
            <a:r>
              <a:rPr b="1" i="0" lang="en-US" sz="2600" u="none">
                <a:solidFill>
                  <a:schemeClr val="dk1"/>
                </a:solidFill>
                <a:latin typeface="Constantia"/>
                <a:ea typeface="Constantia"/>
                <a:cs typeface="Constantia"/>
                <a:sym typeface="Constantia"/>
              </a:rPr>
              <a:t>Greatest Good</a:t>
            </a:r>
            <a:r>
              <a:rPr b="0" i="0" lang="en-US" sz="2600" u="none">
                <a:solidFill>
                  <a:schemeClr val="dk1"/>
                </a:solidFill>
                <a:latin typeface="Constantia"/>
                <a:ea typeface="Constantia"/>
                <a:cs typeface="Constantia"/>
                <a:sym typeface="Constantia"/>
              </a:rPr>
              <a:t>: A government deciding to invest in renewable energy sources, aiming to mitigate climate change effects that threaten the majority of the population's future, thereby benefiting a larger segment of society compared to more localized but less impactful environmental initiatives.</a:t>
            </a:r>
            <a:endParaRPr/>
          </a:p>
          <a:p>
            <a:pPr indent="0" lvl="0" marL="0" marR="0" rtl="0" algn="l">
              <a:lnSpc>
                <a:spcPct val="100000"/>
              </a:lnSpc>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 calcmode="lin" valueType="num">
                                      <p:cBhvr additive="base">
                                        <p:cTn dur="500"/>
                                        <p:tgtEl>
                                          <p:spTgt spid="15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 calcmode="lin" valueType="num">
                                      <p:cBhvr additive="base">
                                        <p:cTn dur="500"/>
                                        <p:tgtEl>
                                          <p:spTgt spid="15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 calcmode="lin" valueType="num">
                                      <p:cBhvr additive="base">
                                        <p:cTn dur="500"/>
                                        <p:tgtEl>
                                          <p:spTgt spid="15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anim calcmode="lin" valueType="num">
                                      <p:cBhvr additive="base">
                                        <p:cTn dur="500"/>
                                        <p:tgtEl>
                                          <p:spTgt spid="15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2">
                                            <p:txEl>
                                              <p:pRg end="4" st="4"/>
                                            </p:txEl>
                                          </p:spTgt>
                                        </p:tgtEl>
                                        <p:attrNameLst>
                                          <p:attrName>style.visibility</p:attrName>
                                        </p:attrNameLst>
                                      </p:cBhvr>
                                      <p:to>
                                        <p:strVal val="visible"/>
                                      </p:to>
                                    </p:set>
                                    <p:anim calcmode="lin" valueType="num">
                                      <p:cBhvr additive="base">
                                        <p:cTn dur="500"/>
                                        <p:tgtEl>
                                          <p:spTgt spid="15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470"/>
              <a:buFont typeface="Noto Sans Symbols"/>
              <a:buNone/>
            </a:pPr>
            <a:r>
              <a:rPr b="1" i="0" lang="en-US" sz="2600" u="none">
                <a:solidFill>
                  <a:schemeClr val="dk1"/>
                </a:solidFill>
                <a:latin typeface="Constantia"/>
                <a:ea typeface="Constantia"/>
                <a:cs typeface="Constantia"/>
                <a:sym typeface="Constantia"/>
              </a:rPr>
              <a:t>Social Welfare</a:t>
            </a:r>
            <a:endParaRPr/>
          </a:p>
          <a:p>
            <a:pPr indent="-156845" lvl="0" marL="0" marR="0" rtl="0" algn="l">
              <a:lnSpc>
                <a:spcPct val="100000"/>
              </a:lnSpc>
              <a:spcBef>
                <a:spcPts val="520"/>
              </a:spcBef>
              <a:spcAft>
                <a:spcPts val="0"/>
              </a:spcAft>
              <a:buClr>
                <a:srgbClr val="FEB80A"/>
              </a:buClr>
              <a:buSzPts val="2470"/>
              <a:buFont typeface="Noto Sans Symbols"/>
              <a:buChar char="⚫"/>
            </a:pPr>
            <a:r>
              <a:rPr b="1" i="0" lang="en-US" sz="2600" u="none">
                <a:solidFill>
                  <a:schemeClr val="dk1"/>
                </a:solidFill>
                <a:latin typeface="Constantia"/>
                <a:ea typeface="Constantia"/>
                <a:cs typeface="Constantia"/>
                <a:sym typeface="Constantia"/>
              </a:rPr>
              <a:t>Common Good</a:t>
            </a:r>
            <a:r>
              <a:rPr b="0" i="0" lang="en-US" sz="2600" u="none">
                <a:solidFill>
                  <a:schemeClr val="dk1"/>
                </a:solidFill>
                <a:latin typeface="Constantia"/>
                <a:ea typeface="Constantia"/>
                <a:cs typeface="Constantia"/>
                <a:sym typeface="Constantia"/>
              </a:rPr>
              <a:t>: Implementing a basic social safety net that provides support for all community members in need, such as food assistance programs that help ensure everyone has access to nutritious meals.</a:t>
            </a:r>
            <a:endParaRPr/>
          </a:p>
          <a:p>
            <a:pPr indent="-156845" lvl="0" marL="0" marR="0" rtl="0" algn="l">
              <a:lnSpc>
                <a:spcPct val="100000"/>
              </a:lnSpc>
              <a:spcBef>
                <a:spcPts val="520"/>
              </a:spcBef>
              <a:spcAft>
                <a:spcPts val="0"/>
              </a:spcAft>
              <a:buClr>
                <a:srgbClr val="FEB80A"/>
              </a:buClr>
              <a:buSzPts val="2470"/>
              <a:buFont typeface="Noto Sans Symbols"/>
              <a:buChar char="⚫"/>
            </a:pPr>
            <a:r>
              <a:rPr b="1" i="0" lang="en-US" sz="2600" u="none">
                <a:solidFill>
                  <a:schemeClr val="dk1"/>
                </a:solidFill>
                <a:latin typeface="Constantia"/>
                <a:ea typeface="Constantia"/>
                <a:cs typeface="Constantia"/>
                <a:sym typeface="Constantia"/>
              </a:rPr>
              <a:t>Greatest Good</a:t>
            </a:r>
            <a:r>
              <a:rPr b="0" i="0" lang="en-US" sz="2600" u="none">
                <a:solidFill>
                  <a:schemeClr val="dk1"/>
                </a:solidFill>
                <a:latin typeface="Constantia"/>
                <a:ea typeface="Constantia"/>
                <a:cs typeface="Constantia"/>
                <a:sym typeface="Constantia"/>
              </a:rPr>
              <a:t>: A targeted relief program that gives larger benefits to the most impoverished families, resulting in the greatest overall reduction in poverty levels, even if some other groups receive less support.</a:t>
            </a:r>
            <a:endParaRPr/>
          </a:p>
          <a:p>
            <a:pPr indent="0" lvl="0" marL="0" marR="0" rtl="0" algn="l">
              <a:lnSpc>
                <a:spcPct val="100000"/>
              </a:lnSpc>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470"/>
              <a:buFont typeface="Noto Sans Symbols"/>
              <a:buNone/>
            </a:pPr>
            <a:r>
              <a:rPr b="1" i="0" lang="en-US" sz="2600" u="none">
                <a:solidFill>
                  <a:schemeClr val="dk1"/>
                </a:solidFill>
                <a:latin typeface="Constantia"/>
                <a:ea typeface="Constantia"/>
                <a:cs typeface="Constantia"/>
                <a:sym typeface="Constantia"/>
              </a:rPr>
              <a:t>Education</a:t>
            </a:r>
            <a:endParaRPr/>
          </a:p>
          <a:p>
            <a:pPr indent="-156845" lvl="0" marL="0" marR="0" rtl="0" algn="l">
              <a:lnSpc>
                <a:spcPct val="100000"/>
              </a:lnSpc>
              <a:spcBef>
                <a:spcPts val="520"/>
              </a:spcBef>
              <a:spcAft>
                <a:spcPts val="0"/>
              </a:spcAft>
              <a:buClr>
                <a:srgbClr val="FEB80A"/>
              </a:buClr>
              <a:buSzPts val="2470"/>
              <a:buFont typeface="Noto Sans Symbols"/>
              <a:buChar char="⚫"/>
            </a:pPr>
            <a:r>
              <a:rPr b="1" i="0" lang="en-US" sz="2600" u="none">
                <a:solidFill>
                  <a:schemeClr val="dk1"/>
                </a:solidFill>
                <a:latin typeface="Constantia"/>
                <a:ea typeface="Constantia"/>
                <a:cs typeface="Constantia"/>
                <a:sym typeface="Constantia"/>
              </a:rPr>
              <a:t>Common Good</a:t>
            </a:r>
            <a:r>
              <a:rPr b="0" i="0" lang="en-US" sz="2600" u="none">
                <a:solidFill>
                  <a:schemeClr val="dk1"/>
                </a:solidFill>
                <a:latin typeface="Constantia"/>
                <a:ea typeface="Constantia"/>
                <a:cs typeface="Constantia"/>
                <a:sym typeface="Constantia"/>
              </a:rPr>
              <a:t>: Ensuring that every student has access to school resources like books, clean classrooms and. fair treatment from teachers.</a:t>
            </a:r>
            <a:endParaRPr/>
          </a:p>
          <a:p>
            <a:pPr indent="-156845" lvl="0" marL="0" marR="0" rtl="0" algn="l">
              <a:lnSpc>
                <a:spcPct val="100000"/>
              </a:lnSpc>
              <a:spcBef>
                <a:spcPts val="520"/>
              </a:spcBef>
              <a:spcAft>
                <a:spcPts val="0"/>
              </a:spcAft>
              <a:buClr>
                <a:srgbClr val="FEB80A"/>
              </a:buClr>
              <a:buSzPts val="2470"/>
              <a:buFont typeface="Noto Sans Symbols"/>
              <a:buChar char="⚫"/>
            </a:pPr>
            <a:r>
              <a:rPr b="1" i="0" lang="en-US" sz="2600" u="none">
                <a:solidFill>
                  <a:schemeClr val="dk1"/>
                </a:solidFill>
                <a:latin typeface="Constantia"/>
                <a:ea typeface="Constantia"/>
                <a:cs typeface="Constantia"/>
                <a:sym typeface="Constantia"/>
              </a:rPr>
              <a:t>Greatest Good</a:t>
            </a:r>
            <a:r>
              <a:rPr b="0" i="0" lang="en-US" sz="2600" u="none">
                <a:solidFill>
                  <a:schemeClr val="dk1"/>
                </a:solidFill>
                <a:latin typeface="Constantia"/>
                <a:ea typeface="Constantia"/>
                <a:cs typeface="Constantia"/>
                <a:sym typeface="Constantia"/>
              </a:rPr>
              <a:t>: Allocating most school funds to the top-performing students to boost the school’s academic reputation, even if it means fewer resources for struggling students.</a:t>
            </a:r>
            <a:endParaRPr/>
          </a:p>
          <a:p>
            <a:pPr indent="0" lvl="0" marL="0" marR="0" rtl="0" algn="l">
              <a:lnSpc>
                <a:spcPct val="100000"/>
              </a:lnSpc>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470"/>
              <a:buFont typeface="Noto Sans Symbols"/>
              <a:buNone/>
            </a:pPr>
            <a:r>
              <a:rPr b="1" i="0" lang="en-US" sz="2600" u="none">
                <a:solidFill>
                  <a:schemeClr val="dk1"/>
                </a:solidFill>
                <a:latin typeface="Constantia"/>
                <a:ea typeface="Constantia"/>
                <a:cs typeface="Constantia"/>
                <a:sym typeface="Constantia"/>
              </a:rPr>
              <a:t>Common Good: </a:t>
            </a:r>
            <a:r>
              <a:rPr b="0" i="0" lang="en-US" sz="2600" u="none">
                <a:solidFill>
                  <a:schemeClr val="dk1"/>
                </a:solidFill>
                <a:latin typeface="Constantia"/>
                <a:ea typeface="Constantia"/>
                <a:cs typeface="Constantia"/>
                <a:sym typeface="Constantia"/>
              </a:rPr>
              <a:t>Public Education</a:t>
            </a:r>
            <a:endParaRPr/>
          </a:p>
          <a:p>
            <a:pPr indent="-156845" lvl="0" marL="0" marR="0" rtl="0" algn="l">
              <a:lnSpc>
                <a:spcPct val="100000"/>
              </a:lnSpc>
              <a:spcBef>
                <a:spcPts val="520"/>
              </a:spcBef>
              <a:spcAft>
                <a:spcPts val="0"/>
              </a:spcAft>
              <a:buClr>
                <a:srgbClr val="FEB80A"/>
              </a:buClr>
              <a:buSzPts val="2470"/>
              <a:buFont typeface="Noto Sans Symbols"/>
              <a:buChar char="⚫"/>
            </a:pPr>
            <a:r>
              <a:rPr b="0" i="0" lang="en-US" sz="2600" u="none">
                <a:solidFill>
                  <a:schemeClr val="dk1"/>
                </a:solidFill>
                <a:latin typeface="Constantia"/>
                <a:ea typeface="Constantia"/>
                <a:cs typeface="Constantia"/>
                <a:sym typeface="Constantia"/>
              </a:rPr>
              <a:t>The government funds schools so everyone can study, rich or poor.</a:t>
            </a:r>
            <a:endParaRPr/>
          </a:p>
          <a:p>
            <a:pPr indent="-156845" lvl="0" marL="0" marR="0" rtl="0" algn="l">
              <a:lnSpc>
                <a:spcPct val="100000"/>
              </a:lnSpc>
              <a:spcBef>
                <a:spcPts val="520"/>
              </a:spcBef>
              <a:spcAft>
                <a:spcPts val="0"/>
              </a:spcAft>
              <a:buClr>
                <a:srgbClr val="FEB80A"/>
              </a:buClr>
              <a:buSzPts val="2470"/>
              <a:buFont typeface="Noto Sans Symbols"/>
              <a:buChar char="⚫"/>
            </a:pPr>
            <a:r>
              <a:rPr b="0" i="0" lang="en-US" sz="2600" u="none">
                <a:solidFill>
                  <a:schemeClr val="dk1"/>
                </a:solidFill>
                <a:latin typeface="Calibri"/>
                <a:ea typeface="Calibri"/>
                <a:cs typeface="Calibri"/>
                <a:sym typeface="Calibri"/>
              </a:rPr>
              <a:t>Even if it’s expensive, it promotes equal opportunity.</a:t>
            </a:r>
            <a:endParaRPr/>
          </a:p>
          <a:p>
            <a:pPr indent="-156845" lvl="0" marL="0" marR="0" rtl="0" algn="l">
              <a:lnSpc>
                <a:spcPct val="100000"/>
              </a:lnSpc>
              <a:spcBef>
                <a:spcPts val="520"/>
              </a:spcBef>
              <a:spcAft>
                <a:spcPts val="0"/>
              </a:spcAft>
              <a:buClr>
                <a:srgbClr val="FEB80A"/>
              </a:buClr>
              <a:buSzPts val="2470"/>
              <a:buFont typeface="Noto Sans Symbols"/>
              <a:buChar char="⚫"/>
            </a:pPr>
            <a:r>
              <a:rPr b="0" i="0" lang="en-US" sz="2600" u="none">
                <a:solidFill>
                  <a:schemeClr val="dk1"/>
                </a:solidFill>
                <a:latin typeface="Calibri"/>
                <a:ea typeface="Calibri"/>
                <a:cs typeface="Calibri"/>
                <a:sym typeface="Calibri"/>
              </a:rPr>
              <a:t>Goal: No one is left behind.</a:t>
            </a:r>
            <a:endParaRPr/>
          </a:p>
          <a:p>
            <a:pPr indent="0" lvl="0" marL="0" marR="0" rtl="0" algn="l">
              <a:lnSpc>
                <a:spcPct val="100000"/>
              </a:lnSpc>
              <a:spcBef>
                <a:spcPts val="520"/>
              </a:spcBef>
              <a:spcAft>
                <a:spcPts val="0"/>
              </a:spcAft>
              <a:buClr>
                <a:srgbClr val="FEB80A"/>
              </a:buClr>
              <a:buSzPts val="2470"/>
              <a:buFont typeface="Noto Sans Symbols"/>
              <a:buNone/>
            </a:pPr>
            <a:r>
              <a:t/>
            </a:r>
            <a:endParaRPr b="0" i="0" sz="2600" u="none">
              <a:solidFill>
                <a:schemeClr val="dk1"/>
              </a:solidFill>
              <a:latin typeface="Calibri"/>
              <a:ea typeface="Calibri"/>
              <a:cs typeface="Calibri"/>
              <a:sym typeface="Calibri"/>
            </a:endParaRPr>
          </a:p>
          <a:p>
            <a:pPr indent="0" lvl="0" marL="0" marR="0" rtl="0" algn="l">
              <a:lnSpc>
                <a:spcPct val="100000"/>
              </a:lnSpc>
              <a:spcBef>
                <a:spcPts val="520"/>
              </a:spcBef>
              <a:spcAft>
                <a:spcPts val="0"/>
              </a:spcAft>
              <a:buClr>
                <a:srgbClr val="FEB80A"/>
              </a:buClr>
              <a:buSzPts val="2470"/>
              <a:buFont typeface="Noto Sans Symbols"/>
              <a:buNone/>
            </a:pPr>
            <a:r>
              <a:rPr b="1" i="0" lang="en-US" sz="2600" u="none">
                <a:solidFill>
                  <a:schemeClr val="dk1"/>
                </a:solidFill>
                <a:latin typeface="Constantia"/>
                <a:ea typeface="Constantia"/>
                <a:cs typeface="Constantia"/>
                <a:sym typeface="Constantia"/>
              </a:rPr>
              <a:t>Greatest Good: </a:t>
            </a:r>
            <a:r>
              <a:rPr b="0" i="0" lang="en-US" sz="2600" u="none">
                <a:solidFill>
                  <a:schemeClr val="dk1"/>
                </a:solidFill>
                <a:latin typeface="Constantia"/>
                <a:ea typeface="Constantia"/>
                <a:cs typeface="Constantia"/>
                <a:sym typeface="Constantia"/>
              </a:rPr>
              <a:t>Building a highway</a:t>
            </a:r>
            <a:endParaRPr b="1" i="0" sz="2600" u="none">
              <a:solidFill>
                <a:schemeClr val="dk1"/>
              </a:solidFill>
              <a:latin typeface="Constantia"/>
              <a:ea typeface="Constantia"/>
              <a:cs typeface="Constantia"/>
              <a:sym typeface="Constantia"/>
            </a:endParaRPr>
          </a:p>
          <a:p>
            <a:pPr indent="-156845" lvl="0" marL="0" marR="0" rtl="0" algn="l">
              <a:lnSpc>
                <a:spcPct val="100000"/>
              </a:lnSpc>
              <a:spcBef>
                <a:spcPts val="520"/>
              </a:spcBef>
              <a:spcAft>
                <a:spcPts val="0"/>
              </a:spcAft>
              <a:buClr>
                <a:srgbClr val="FEB80A"/>
              </a:buClr>
              <a:buSzPts val="2470"/>
              <a:buFont typeface="Noto Sans Symbols"/>
              <a:buChar char="⚫"/>
            </a:pPr>
            <a:r>
              <a:rPr b="0" i="0" lang="en-US" sz="2600" u="none">
                <a:solidFill>
                  <a:schemeClr val="dk1"/>
                </a:solidFill>
                <a:latin typeface="Constantia"/>
                <a:ea typeface="Constantia"/>
                <a:cs typeface="Constantia"/>
                <a:sym typeface="Constantia"/>
              </a:rPr>
              <a:t>A new road reduces traffic and helps millions.</a:t>
            </a:r>
            <a:endParaRPr/>
          </a:p>
          <a:p>
            <a:pPr indent="-156845" lvl="0" marL="0" marR="0" rtl="0" algn="l">
              <a:lnSpc>
                <a:spcPct val="100000"/>
              </a:lnSpc>
              <a:spcBef>
                <a:spcPts val="520"/>
              </a:spcBef>
              <a:spcAft>
                <a:spcPts val="0"/>
              </a:spcAft>
              <a:buClr>
                <a:srgbClr val="FEB80A"/>
              </a:buClr>
              <a:buSzPts val="2470"/>
              <a:buFont typeface="Noto Sans Symbols"/>
              <a:buChar char="⚫"/>
            </a:pPr>
            <a:r>
              <a:rPr b="0" i="0" lang="en-US" sz="2600" u="none">
                <a:solidFill>
                  <a:schemeClr val="dk1"/>
                </a:solidFill>
                <a:latin typeface="Calibri"/>
                <a:ea typeface="Calibri"/>
                <a:cs typeface="Calibri"/>
                <a:sym typeface="Calibri"/>
              </a:rPr>
              <a:t>But some families may lose homes due to construction.</a:t>
            </a:r>
            <a:endParaRPr/>
          </a:p>
          <a:p>
            <a:pPr indent="-156845" lvl="0" marL="0" marR="0" rtl="0" algn="l">
              <a:lnSpc>
                <a:spcPct val="100000"/>
              </a:lnSpc>
              <a:spcBef>
                <a:spcPts val="520"/>
              </a:spcBef>
              <a:spcAft>
                <a:spcPts val="0"/>
              </a:spcAft>
              <a:buClr>
                <a:srgbClr val="FEB80A"/>
              </a:buClr>
              <a:buSzPts val="2470"/>
              <a:buFont typeface="Noto Sans Symbols"/>
              <a:buChar char="⚫"/>
            </a:pPr>
            <a:r>
              <a:rPr b="0" i="0" lang="en-US" sz="2600" u="none">
                <a:solidFill>
                  <a:schemeClr val="dk1"/>
                </a:solidFill>
                <a:latin typeface="Calibri"/>
                <a:ea typeface="Calibri"/>
                <a:cs typeface="Calibri"/>
                <a:sym typeface="Calibri"/>
              </a:rPr>
              <a:t>Goal: Most people benefit, even if a few are affected.</a:t>
            </a:r>
            <a:endParaRPr/>
          </a:p>
          <a:p>
            <a:pPr indent="-116205" lvl="0" marL="273050" marR="0" rtl="0" algn="l">
              <a:spcBef>
                <a:spcPts val="520"/>
              </a:spcBef>
              <a:spcAft>
                <a:spcPts val="0"/>
              </a:spcAft>
              <a:buClr>
                <a:srgbClr val="FEB80A"/>
              </a:buClr>
              <a:buSzPts val="2470"/>
              <a:buFont typeface="Noto Sans Symbols"/>
              <a:buNone/>
            </a:pPr>
            <a:r>
              <a:t/>
            </a:r>
            <a:endParaRPr b="0" i="0" sz="2600" u="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5"/>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470"/>
              <a:buFont typeface="Noto Sans Symbols"/>
              <a:buNone/>
            </a:pPr>
            <a:r>
              <a:t/>
            </a:r>
            <a:endParaRPr b="1" i="0" sz="2600" u="none">
              <a:solidFill>
                <a:schemeClr val="dk1"/>
              </a:solidFill>
              <a:latin typeface="Constantia"/>
              <a:ea typeface="Constantia"/>
              <a:cs typeface="Constantia"/>
              <a:sym typeface="Constantia"/>
            </a:endParaRPr>
          </a:p>
          <a:p>
            <a:pPr indent="-156845" lvl="0" marL="0" marR="0" rtl="0" algn="l">
              <a:lnSpc>
                <a:spcPct val="100000"/>
              </a:lnSpc>
              <a:spcBef>
                <a:spcPts val="520"/>
              </a:spcBef>
              <a:spcAft>
                <a:spcPts val="0"/>
              </a:spcAft>
              <a:buClr>
                <a:srgbClr val="FEB80A"/>
              </a:buClr>
              <a:buSzPts val="2470"/>
              <a:buFont typeface="Noto Sans Symbols"/>
              <a:buChar char="⚫"/>
            </a:pPr>
            <a:r>
              <a:rPr b="1" i="0" lang="en-US" sz="2600" u="none">
                <a:solidFill>
                  <a:schemeClr val="dk1"/>
                </a:solidFill>
                <a:latin typeface="Constantia"/>
                <a:ea typeface="Constantia"/>
                <a:cs typeface="Constantia"/>
                <a:sym typeface="Constantia"/>
              </a:rPr>
              <a:t>Urban Planning</a:t>
            </a:r>
            <a:endParaRPr/>
          </a:p>
          <a:p>
            <a:pPr indent="-156845" lvl="0" marL="0" marR="0" rtl="0" algn="l">
              <a:lnSpc>
                <a:spcPct val="100000"/>
              </a:lnSpc>
              <a:spcBef>
                <a:spcPts val="520"/>
              </a:spcBef>
              <a:spcAft>
                <a:spcPts val="0"/>
              </a:spcAft>
              <a:buClr>
                <a:srgbClr val="FEB80A"/>
              </a:buClr>
              <a:buSzPts val="2470"/>
              <a:buFont typeface="Noto Sans Symbols"/>
              <a:buChar char="⚫"/>
            </a:pPr>
            <a:r>
              <a:rPr b="1" i="0" lang="en-US" sz="2600" u="none">
                <a:solidFill>
                  <a:schemeClr val="dk1"/>
                </a:solidFill>
                <a:latin typeface="Constantia"/>
                <a:ea typeface="Constantia"/>
                <a:cs typeface="Constantia"/>
                <a:sym typeface="Constantia"/>
              </a:rPr>
              <a:t>Public Health</a:t>
            </a:r>
            <a:endParaRPr b="0" i="0" sz="2600" u="none">
              <a:solidFill>
                <a:schemeClr val="dk1"/>
              </a:solidFill>
              <a:latin typeface="Constantia"/>
              <a:ea typeface="Constantia"/>
              <a:cs typeface="Constantia"/>
              <a:sym typeface="Constantia"/>
            </a:endParaRPr>
          </a:p>
          <a:p>
            <a:pPr indent="0" lvl="0" marL="0" marR="0" rtl="0" algn="l">
              <a:lnSpc>
                <a:spcPct val="100000"/>
              </a:lnSpc>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6"/>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850"/>
              <a:buFont typeface="Noto Sans Symbols"/>
              <a:buNone/>
            </a:pPr>
            <a:r>
              <a:rPr b="1" i="0" lang="en-US" sz="3000" u="none">
                <a:solidFill>
                  <a:schemeClr val="dk1"/>
                </a:solidFill>
                <a:latin typeface="Calibri"/>
                <a:ea typeface="Calibri"/>
                <a:cs typeface="Calibri"/>
                <a:sym typeface="Calibri"/>
              </a:rPr>
              <a:t>CODE OF CONDUCT</a:t>
            </a:r>
            <a:endParaRPr/>
          </a:p>
          <a:p>
            <a:pPr indent="0" lvl="0" marL="0" marR="0" rtl="0" algn="l">
              <a:lnSpc>
                <a:spcPct val="100000"/>
              </a:lnSpc>
              <a:spcBef>
                <a:spcPts val="300"/>
              </a:spcBef>
              <a:spcAft>
                <a:spcPts val="0"/>
              </a:spcAft>
              <a:buClr>
                <a:srgbClr val="FEB80A"/>
              </a:buClr>
              <a:buSzPts val="1425"/>
              <a:buFont typeface="Noto Sans Symbols"/>
              <a:buNone/>
            </a:pPr>
            <a:r>
              <a:t/>
            </a:r>
            <a:endParaRPr b="1" i="0" sz="1500" u="non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FEB80A"/>
              </a:buClr>
              <a:buSzPts val="2850"/>
              <a:buFont typeface="Noto Sans Symbols"/>
              <a:buNone/>
            </a:pPr>
            <a:r>
              <a:rPr b="1" i="0" lang="en-US" sz="3000" u="none">
                <a:solidFill>
                  <a:schemeClr val="dk1"/>
                </a:solidFill>
                <a:latin typeface="Calibri"/>
                <a:ea typeface="Calibri"/>
                <a:cs typeface="Calibri"/>
                <a:sym typeface="Calibri"/>
              </a:rPr>
              <a:t>	Every organization must have a  code of right conduct. A code has value just like an internal guideline and an external statement of corporate values and commitments.</a:t>
            </a:r>
            <a:endParaRPr/>
          </a:p>
          <a:p>
            <a:pPr indent="0" lvl="0" marL="0" marR="0" rtl="0" algn="l">
              <a:lnSpc>
                <a:spcPct val="100000"/>
              </a:lnSpc>
              <a:spcBef>
                <a:spcPts val="300"/>
              </a:spcBef>
              <a:spcAft>
                <a:spcPts val="0"/>
              </a:spcAft>
              <a:buClr>
                <a:srgbClr val="FEB80A"/>
              </a:buClr>
              <a:buSzPts val="1425"/>
              <a:buFont typeface="Noto Sans Symbols"/>
              <a:buNone/>
            </a:pPr>
            <a:r>
              <a:t/>
            </a:r>
            <a:endParaRPr b="1" i="0" sz="1500" u="non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FEB80A"/>
              </a:buClr>
              <a:buSzPts val="2850"/>
              <a:buFont typeface="Noto Sans Symbols"/>
              <a:buNone/>
            </a:pPr>
            <a:r>
              <a:rPr b="1" i="0" lang="en-US" sz="3000" u="none">
                <a:solidFill>
                  <a:schemeClr val="dk1"/>
                </a:solidFill>
                <a:latin typeface="Calibri"/>
                <a:ea typeface="Calibri"/>
                <a:cs typeface="Calibri"/>
                <a:sym typeface="Calibri"/>
              </a:rPr>
              <a:t>	A well-written code of conduct spells out an organization’s mission, values and principles, connecting them with standards of professional conduct. The code expresses the values the organization desires to promote in leaders and employees.</a:t>
            </a:r>
            <a:endParaRPr/>
          </a:p>
          <a:p>
            <a:pPr indent="0" lvl="0" marL="0" marR="0" rtl="0" algn="l">
              <a:lnSpc>
                <a:spcPct val="100000"/>
              </a:lnSpc>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anim calcmode="lin" valueType="num">
                                      <p:cBhvr additive="base">
                                        <p:cTn dur="500"/>
                                        <p:tgtEl>
                                          <p:spTgt spid="177">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anim calcmode="lin" valueType="num">
                                      <p:cBhvr additive="base">
                                        <p:cTn dur="500"/>
                                        <p:tgtEl>
                                          <p:spTgt spid="177">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2" st="2"/>
                                            </p:txEl>
                                          </p:spTgt>
                                        </p:tgtEl>
                                        <p:attrNameLst>
                                          <p:attrName>style.visibility</p:attrName>
                                        </p:attrNameLst>
                                      </p:cBhvr>
                                      <p:to>
                                        <p:strVal val="visible"/>
                                      </p:to>
                                    </p:set>
                                    <p:anim calcmode="lin" valueType="num">
                                      <p:cBhvr additive="base">
                                        <p:cTn dur="500"/>
                                        <p:tgtEl>
                                          <p:spTgt spid="177">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3" st="3"/>
                                            </p:txEl>
                                          </p:spTgt>
                                        </p:tgtEl>
                                        <p:attrNameLst>
                                          <p:attrName>style.visibility</p:attrName>
                                        </p:attrNameLst>
                                      </p:cBhvr>
                                      <p:to>
                                        <p:strVal val="visible"/>
                                      </p:to>
                                    </p:set>
                                    <p:anim calcmode="lin" valueType="num">
                                      <p:cBhvr additive="base">
                                        <p:cTn dur="500"/>
                                        <p:tgtEl>
                                          <p:spTgt spid="177">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4" st="4"/>
                                            </p:txEl>
                                          </p:spTgt>
                                        </p:tgtEl>
                                        <p:attrNameLst>
                                          <p:attrName>style.visibility</p:attrName>
                                        </p:attrNameLst>
                                      </p:cBhvr>
                                      <p:to>
                                        <p:strVal val="visible"/>
                                      </p:to>
                                    </p:set>
                                    <p:anim calcmode="lin" valueType="num">
                                      <p:cBhvr additive="base">
                                        <p:cTn dur="500"/>
                                        <p:tgtEl>
                                          <p:spTgt spid="177">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5" st="5"/>
                                            </p:txEl>
                                          </p:spTgt>
                                        </p:tgtEl>
                                        <p:attrNameLst>
                                          <p:attrName>style.visibility</p:attrName>
                                        </p:attrNameLst>
                                      </p:cBhvr>
                                      <p:to>
                                        <p:strVal val="visible"/>
                                      </p:to>
                                    </p:set>
                                    <p:anim calcmode="lin" valueType="num">
                                      <p:cBhvr additive="base">
                                        <p:cTn dur="500"/>
                                        <p:tgtEl>
                                          <p:spTgt spid="177">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xEl>
                                              <p:pRg end="6" st="6"/>
                                            </p:txEl>
                                          </p:spTgt>
                                        </p:tgtEl>
                                        <p:attrNameLst>
                                          <p:attrName>style.visibility</p:attrName>
                                        </p:attrNameLst>
                                      </p:cBhvr>
                                      <p:to>
                                        <p:strVal val="visible"/>
                                      </p:to>
                                    </p:set>
                                    <p:anim calcmode="lin" valueType="num">
                                      <p:cBhvr additive="base">
                                        <p:cTn dur="500"/>
                                        <p:tgtEl>
                                          <p:spTgt spid="177">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7"/>
          <p:cNvSpPr txBox="1"/>
          <p:nvPr>
            <p:ph idx="1" type="body"/>
          </p:nvPr>
        </p:nvSpPr>
        <p:spPr>
          <a:xfrm>
            <a:off x="457200" y="6858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850"/>
              <a:buFont typeface="Noto Sans Symbols"/>
              <a:buNone/>
            </a:pPr>
            <a:r>
              <a:rPr b="1" i="0" lang="en-US" sz="3000" u="none">
                <a:solidFill>
                  <a:schemeClr val="dk1"/>
                </a:solidFill>
                <a:latin typeface="Calibri"/>
                <a:ea typeface="Calibri"/>
                <a:cs typeface="Calibri"/>
                <a:sym typeface="Calibri"/>
              </a:rPr>
              <a:t>EXAMPLE OF CODE OF CONDUCT</a:t>
            </a:r>
            <a:endParaRPr/>
          </a:p>
          <a:p>
            <a:pPr indent="0" lvl="0" marL="0" marR="0" rtl="0" algn="l">
              <a:lnSpc>
                <a:spcPct val="100000"/>
              </a:lnSpc>
              <a:spcBef>
                <a:spcPts val="300"/>
              </a:spcBef>
              <a:spcAft>
                <a:spcPts val="0"/>
              </a:spcAft>
              <a:buClr>
                <a:srgbClr val="FEB80A"/>
              </a:buClr>
              <a:buSzPts val="1425"/>
              <a:buFont typeface="Noto Sans Symbols"/>
              <a:buNone/>
            </a:pPr>
            <a:r>
              <a:t/>
            </a:r>
            <a:endParaRPr b="1" i="0" sz="1500" u="none">
              <a:solidFill>
                <a:schemeClr val="dk1"/>
              </a:solidFill>
              <a:latin typeface="Calibri"/>
              <a:ea typeface="Calibri"/>
              <a:cs typeface="Calibri"/>
              <a:sym typeface="Calibri"/>
            </a:endParaRPr>
          </a:p>
          <a:p>
            <a:pPr indent="0" lvl="0" marL="0" marR="0" rtl="0" algn="ctr">
              <a:lnSpc>
                <a:spcPct val="100000"/>
              </a:lnSpc>
              <a:spcBef>
                <a:spcPts val="560"/>
              </a:spcBef>
              <a:spcAft>
                <a:spcPts val="0"/>
              </a:spcAft>
              <a:buClr>
                <a:srgbClr val="FEB80A"/>
              </a:buClr>
              <a:buSzPts val="2660"/>
              <a:buFont typeface="Noto Sans Symbols"/>
              <a:buNone/>
            </a:pPr>
            <a:r>
              <a:rPr b="1" i="0" lang="en-US" sz="2800" u="none">
                <a:solidFill>
                  <a:schemeClr val="dk1"/>
                </a:solidFill>
                <a:latin typeface="Constantia"/>
                <a:ea typeface="Constantia"/>
                <a:cs typeface="Constantia"/>
                <a:sym typeface="Constantia"/>
              </a:rPr>
              <a:t>Policy elements</a:t>
            </a:r>
            <a:endParaRPr/>
          </a:p>
          <a:p>
            <a:pPr indent="0" lvl="0" marL="0" marR="0" rtl="0" algn="l">
              <a:lnSpc>
                <a:spcPct val="100000"/>
              </a:lnSpc>
              <a:spcBef>
                <a:spcPts val="560"/>
              </a:spcBef>
              <a:spcAft>
                <a:spcPts val="0"/>
              </a:spcAft>
              <a:buClr>
                <a:srgbClr val="FEB80A"/>
              </a:buClr>
              <a:buSzPts val="2660"/>
              <a:buFont typeface="Noto Sans Symbols"/>
              <a:buNone/>
            </a:pPr>
            <a:r>
              <a:rPr b="0" i="0" lang="en-US" sz="2800" u="none">
                <a:solidFill>
                  <a:schemeClr val="dk1"/>
                </a:solidFill>
                <a:latin typeface="Constantia"/>
                <a:ea typeface="Constantia"/>
                <a:cs typeface="Constantia"/>
                <a:sym typeface="Constantia"/>
              </a:rPr>
              <a:t>Company employees are bound by their contract to follow our Employee Code of Conduct while performing their duties.</a:t>
            </a:r>
            <a:endParaRPr/>
          </a:p>
          <a:p>
            <a:pPr indent="-168910" lvl="0" marL="0" marR="0" rtl="0" algn="l">
              <a:lnSpc>
                <a:spcPct val="100000"/>
              </a:lnSpc>
              <a:spcBef>
                <a:spcPts val="560"/>
              </a:spcBef>
              <a:spcAft>
                <a:spcPts val="0"/>
              </a:spcAft>
              <a:buClr>
                <a:srgbClr val="FEB80A"/>
              </a:buClr>
              <a:buSzPts val="2660"/>
              <a:buFont typeface="Noto Sans Symbols"/>
              <a:buChar char="⚫"/>
            </a:pPr>
            <a:r>
              <a:rPr b="1" i="0" lang="en-US" sz="2800" u="none">
                <a:solidFill>
                  <a:schemeClr val="dk1"/>
                </a:solidFill>
                <a:latin typeface="Constantia"/>
                <a:ea typeface="Constantia"/>
                <a:cs typeface="Constantia"/>
                <a:sym typeface="Constantia"/>
              </a:rPr>
              <a:t>Compliance with Law</a:t>
            </a:r>
            <a:endParaRPr/>
          </a:p>
          <a:p>
            <a:pPr indent="0" lvl="0" marL="0" marR="0" rtl="0" algn="l">
              <a:lnSpc>
                <a:spcPct val="100000"/>
              </a:lnSpc>
              <a:spcBef>
                <a:spcPts val="560"/>
              </a:spcBef>
              <a:spcAft>
                <a:spcPts val="0"/>
              </a:spcAft>
              <a:buClr>
                <a:srgbClr val="FEB80A"/>
              </a:buClr>
              <a:buSzPts val="2660"/>
              <a:buFont typeface="Noto Sans Symbols"/>
              <a:buNone/>
            </a:pPr>
            <a:r>
              <a:rPr b="0" i="0" lang="en-US" sz="2800" u="none">
                <a:solidFill>
                  <a:schemeClr val="dk1"/>
                </a:solidFill>
                <a:latin typeface="Constantia"/>
                <a:ea typeface="Constantia"/>
                <a:cs typeface="Constantia"/>
                <a:sym typeface="Constantia"/>
              </a:rPr>
              <a:t>All employees must protect the company’s legality. They should comply with all environmental, safety and fair dealing dictations of local and international laws. employees should also respect our company’s policy for social corporate responsibility.</a:t>
            </a:r>
            <a:endParaRPr/>
          </a:p>
          <a:p>
            <a:pPr indent="0" lvl="0" marL="0" marR="0" rtl="0" algn="l">
              <a:lnSpc>
                <a:spcPct val="100000"/>
              </a:lnSpc>
              <a:spcBef>
                <a:spcPts val="640"/>
              </a:spcBef>
              <a:spcAft>
                <a:spcPts val="0"/>
              </a:spcAft>
              <a:buClr>
                <a:srgbClr val="FEB80A"/>
              </a:buClr>
              <a:buSzPts val="3040"/>
              <a:buFont typeface="Noto Sans Symbols"/>
              <a:buNone/>
            </a:pPr>
            <a:r>
              <a:t/>
            </a:r>
            <a:endParaRPr b="0" i="0" sz="3200" u="none">
              <a:solidFill>
                <a:schemeClr val="dk1"/>
              </a:solidFill>
              <a:latin typeface="Constantia"/>
              <a:ea typeface="Constantia"/>
              <a:cs typeface="Constantia"/>
              <a:sym typeface="Constantia"/>
            </a:endParaRPr>
          </a:p>
          <a:p>
            <a:pPr indent="0" lvl="0" marL="0" marR="0" rtl="0" algn="l">
              <a:lnSpc>
                <a:spcPct val="100000"/>
              </a:lnSpc>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0" st="0"/>
                                            </p:txEl>
                                          </p:spTgt>
                                        </p:tgtEl>
                                        <p:attrNameLst>
                                          <p:attrName>style.visibility</p:attrName>
                                        </p:attrNameLst>
                                      </p:cBhvr>
                                      <p:to>
                                        <p:strVal val="visible"/>
                                      </p:to>
                                    </p:set>
                                    <p:anim calcmode="lin" valueType="num">
                                      <p:cBhvr additive="base">
                                        <p:cTn dur="500"/>
                                        <p:tgtEl>
                                          <p:spTgt spid="182">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1" st="1"/>
                                            </p:txEl>
                                          </p:spTgt>
                                        </p:tgtEl>
                                        <p:attrNameLst>
                                          <p:attrName>style.visibility</p:attrName>
                                        </p:attrNameLst>
                                      </p:cBhvr>
                                      <p:to>
                                        <p:strVal val="visible"/>
                                      </p:to>
                                    </p:set>
                                    <p:anim calcmode="lin" valueType="num">
                                      <p:cBhvr additive="base">
                                        <p:cTn dur="500"/>
                                        <p:tgtEl>
                                          <p:spTgt spid="182">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2" st="2"/>
                                            </p:txEl>
                                          </p:spTgt>
                                        </p:tgtEl>
                                        <p:attrNameLst>
                                          <p:attrName>style.visibility</p:attrName>
                                        </p:attrNameLst>
                                      </p:cBhvr>
                                      <p:to>
                                        <p:strVal val="visible"/>
                                      </p:to>
                                    </p:set>
                                    <p:anim calcmode="lin" valueType="num">
                                      <p:cBhvr additive="base">
                                        <p:cTn dur="500"/>
                                        <p:tgtEl>
                                          <p:spTgt spid="182">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3" st="3"/>
                                            </p:txEl>
                                          </p:spTgt>
                                        </p:tgtEl>
                                        <p:attrNameLst>
                                          <p:attrName>style.visibility</p:attrName>
                                        </p:attrNameLst>
                                      </p:cBhvr>
                                      <p:to>
                                        <p:strVal val="visible"/>
                                      </p:to>
                                    </p:set>
                                    <p:anim calcmode="lin" valueType="num">
                                      <p:cBhvr additive="base">
                                        <p:cTn dur="500"/>
                                        <p:tgtEl>
                                          <p:spTgt spid="18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4" st="4"/>
                                            </p:txEl>
                                          </p:spTgt>
                                        </p:tgtEl>
                                        <p:attrNameLst>
                                          <p:attrName>style.visibility</p:attrName>
                                        </p:attrNameLst>
                                      </p:cBhvr>
                                      <p:to>
                                        <p:strVal val="visible"/>
                                      </p:to>
                                    </p:set>
                                    <p:anim calcmode="lin" valueType="num">
                                      <p:cBhvr additive="base">
                                        <p:cTn dur="500"/>
                                        <p:tgtEl>
                                          <p:spTgt spid="182">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5" st="5"/>
                                            </p:txEl>
                                          </p:spTgt>
                                        </p:tgtEl>
                                        <p:attrNameLst>
                                          <p:attrName>style.visibility</p:attrName>
                                        </p:attrNameLst>
                                      </p:cBhvr>
                                      <p:to>
                                        <p:strVal val="visible"/>
                                      </p:to>
                                    </p:set>
                                    <p:anim calcmode="lin" valueType="num">
                                      <p:cBhvr additive="base">
                                        <p:cTn dur="500"/>
                                        <p:tgtEl>
                                          <p:spTgt spid="182">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6" st="6"/>
                                            </p:txEl>
                                          </p:spTgt>
                                        </p:tgtEl>
                                        <p:attrNameLst>
                                          <p:attrName>style.visibility</p:attrName>
                                        </p:attrNameLst>
                                      </p:cBhvr>
                                      <p:to>
                                        <p:strVal val="visible"/>
                                      </p:to>
                                    </p:set>
                                    <p:anim calcmode="lin" valueType="num">
                                      <p:cBhvr additive="base">
                                        <p:cTn dur="500"/>
                                        <p:tgtEl>
                                          <p:spTgt spid="182">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7" st="7"/>
                                            </p:txEl>
                                          </p:spTgt>
                                        </p:tgtEl>
                                        <p:attrNameLst>
                                          <p:attrName>style.visibility</p:attrName>
                                        </p:attrNameLst>
                                      </p:cBhvr>
                                      <p:to>
                                        <p:strVal val="visible"/>
                                      </p:to>
                                    </p:set>
                                    <p:anim calcmode="lin" valueType="num">
                                      <p:cBhvr additive="base">
                                        <p:cTn dur="500"/>
                                        <p:tgtEl>
                                          <p:spTgt spid="182">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2">
                                            <p:txEl>
                                              <p:pRg end="8" st="8"/>
                                            </p:txEl>
                                          </p:spTgt>
                                        </p:tgtEl>
                                        <p:attrNameLst>
                                          <p:attrName>style.visibility</p:attrName>
                                        </p:attrNameLst>
                                      </p:cBhvr>
                                      <p:to>
                                        <p:strVal val="visible"/>
                                      </p:to>
                                    </p:set>
                                    <p:anim calcmode="lin" valueType="num">
                                      <p:cBhvr additive="base">
                                        <p:cTn dur="500"/>
                                        <p:tgtEl>
                                          <p:spTgt spid="182">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8"/>
          <p:cNvSpPr txBox="1"/>
          <p:nvPr>
            <p:ph idx="1" type="body"/>
          </p:nvPr>
        </p:nvSpPr>
        <p:spPr>
          <a:xfrm>
            <a:off x="457200" y="914400"/>
            <a:ext cx="8229600" cy="25146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FEB80A"/>
              </a:buClr>
              <a:buSzPts val="3040"/>
              <a:buFont typeface="Noto Sans Symbols"/>
              <a:buChar char="⚫"/>
            </a:pPr>
            <a:r>
              <a:rPr b="1" i="0" lang="en-US" sz="3200" u="none">
                <a:solidFill>
                  <a:schemeClr val="dk1"/>
                </a:solidFill>
                <a:latin typeface="Constantia"/>
                <a:ea typeface="Constantia"/>
                <a:cs typeface="Constantia"/>
                <a:sym typeface="Constantia"/>
              </a:rPr>
              <a:t>Respect in the Workplace</a:t>
            </a:r>
            <a:endParaRPr/>
          </a:p>
          <a:p>
            <a:pPr indent="-273050" lvl="0" marL="273050" marR="0" rtl="0" algn="l">
              <a:lnSpc>
                <a:spcPct val="100000"/>
              </a:lnSpc>
              <a:spcBef>
                <a:spcPts val="560"/>
              </a:spcBef>
              <a:spcAft>
                <a:spcPts val="0"/>
              </a:spcAft>
              <a:buClr>
                <a:srgbClr val="FEB80A"/>
              </a:buClr>
              <a:buSzPts val="2660"/>
              <a:buFont typeface="Noto Sans Symbols"/>
              <a:buNone/>
            </a:pPr>
            <a:r>
              <a:rPr b="0" i="0" lang="en-US" sz="2800" u="none">
                <a:solidFill>
                  <a:schemeClr val="dk1"/>
                </a:solidFill>
                <a:latin typeface="Constantia"/>
                <a:ea typeface="Constantia"/>
                <a:cs typeface="Constantia"/>
                <a:sym typeface="Constantia"/>
              </a:rPr>
              <a:t>All employees are bound by our company’s </a:t>
            </a:r>
            <a:r>
              <a:rPr b="0" i="0" lang="en-US" sz="2800" u="sng">
                <a:solidFill>
                  <a:schemeClr val="hlink"/>
                </a:solidFill>
                <a:latin typeface="Constantia"/>
                <a:ea typeface="Constantia"/>
                <a:cs typeface="Constantia"/>
                <a:sym typeface="Constantia"/>
                <a:hlinkClick r:id="rId3"/>
              </a:rPr>
              <a:t>equal opportunity policy</a:t>
            </a:r>
            <a:r>
              <a:rPr b="0" i="0" lang="en-US" sz="2800" u="none">
                <a:solidFill>
                  <a:schemeClr val="dk1"/>
                </a:solidFill>
                <a:latin typeface="Constantia"/>
                <a:ea typeface="Constantia"/>
                <a:cs typeface="Constantia"/>
                <a:sym typeface="Constantia"/>
              </a:rPr>
              <a:t>. They should behave in a respectful manner towards their colleagues. Any kind of discriminatory behavior, harassment or victimization is prohibited. This applies to all aspects of our workplace from recruitment and evaluation processes to interpersonal relations between employees. </a:t>
            </a:r>
            <a:endParaRPr/>
          </a:p>
          <a:p>
            <a:pPr indent="-80010" lvl="0" marL="273050" marR="0" rtl="0" algn="l">
              <a:lnSpc>
                <a:spcPct val="100000"/>
              </a:lnSpc>
              <a:spcBef>
                <a:spcPts val="640"/>
              </a:spcBef>
              <a:spcAft>
                <a:spcPts val="0"/>
              </a:spcAft>
              <a:buClr>
                <a:srgbClr val="FEB80A"/>
              </a:buClr>
              <a:buSzPts val="3040"/>
              <a:buFont typeface="Noto Sans Symbols"/>
              <a:buNone/>
            </a:pPr>
            <a:r>
              <a:t/>
            </a:r>
            <a:endParaRPr b="0" i="0" sz="3200" u="none">
              <a:solidFill>
                <a:schemeClr val="dk1"/>
              </a:solidFill>
              <a:latin typeface="Constantia"/>
              <a:ea typeface="Constantia"/>
              <a:cs typeface="Constantia"/>
              <a:sym typeface="Constantia"/>
            </a:endParaRPr>
          </a:p>
          <a:p>
            <a:pPr indent="-273050" lvl="0" marL="273050" marR="0" rtl="0" algn="l">
              <a:lnSpc>
                <a:spcPct val="100000"/>
              </a:lnSpc>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9"/>
          <p:cNvSpPr txBox="1"/>
          <p:nvPr>
            <p:ph idx="1" type="body"/>
          </p:nvPr>
        </p:nvSpPr>
        <p:spPr>
          <a:xfrm>
            <a:off x="457200" y="609600"/>
            <a:ext cx="8229600" cy="25146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FEB80A"/>
              </a:buClr>
              <a:buSzPts val="3040"/>
              <a:buFont typeface="Noto Sans Symbols"/>
              <a:buChar char="⚫"/>
            </a:pPr>
            <a:r>
              <a:rPr b="1" i="0" lang="en-US" sz="3200" u="none">
                <a:solidFill>
                  <a:schemeClr val="dk1"/>
                </a:solidFill>
                <a:latin typeface="Constantia"/>
                <a:ea typeface="Constantia"/>
                <a:cs typeface="Constantia"/>
                <a:sym typeface="Constantia"/>
              </a:rPr>
              <a:t>Protection of Company Property</a:t>
            </a:r>
            <a:endParaRPr/>
          </a:p>
          <a:p>
            <a:pPr indent="-273050" lvl="0" marL="273050" marR="0" rtl="0" algn="l">
              <a:lnSpc>
                <a:spcPct val="100000"/>
              </a:lnSpc>
              <a:spcBef>
                <a:spcPts val="560"/>
              </a:spcBef>
              <a:spcAft>
                <a:spcPts val="0"/>
              </a:spcAft>
              <a:buClr>
                <a:srgbClr val="FEB80A"/>
              </a:buClr>
              <a:buSzPts val="2660"/>
              <a:buFont typeface="Noto Sans Symbols"/>
              <a:buNone/>
            </a:pPr>
            <a:r>
              <a:rPr b="0" i="0" lang="en-US" sz="2800" u="none">
                <a:solidFill>
                  <a:schemeClr val="dk1"/>
                </a:solidFill>
                <a:latin typeface="Constantia"/>
                <a:ea typeface="Constantia"/>
                <a:cs typeface="Constantia"/>
                <a:sym typeface="Constantia"/>
              </a:rPr>
              <a:t>All employees should treat our company’s property, whether material or intangible, with respect and care. </a:t>
            </a:r>
            <a:endParaRPr/>
          </a:p>
          <a:p>
            <a:pPr indent="-273050" lvl="0" marL="273050" marR="0" rtl="0" algn="l">
              <a:lnSpc>
                <a:spcPct val="100000"/>
              </a:lnSpc>
              <a:spcBef>
                <a:spcPts val="200"/>
              </a:spcBef>
              <a:spcAft>
                <a:spcPts val="0"/>
              </a:spcAft>
              <a:buClr>
                <a:srgbClr val="FEB80A"/>
              </a:buClr>
              <a:buSzPts val="950"/>
              <a:buFont typeface="Noto Sans Symbols"/>
              <a:buNone/>
            </a:pPr>
            <a:r>
              <a:t/>
            </a:r>
            <a:endParaRPr b="0" i="0" sz="1000" u="none">
              <a:solidFill>
                <a:schemeClr val="dk1"/>
              </a:solidFill>
              <a:latin typeface="Constantia"/>
              <a:ea typeface="Constantia"/>
              <a:cs typeface="Constantia"/>
              <a:sym typeface="Constantia"/>
            </a:endParaRPr>
          </a:p>
          <a:p>
            <a:pPr indent="-273050" lvl="0" marL="273050" marR="0" rtl="0" algn="l">
              <a:lnSpc>
                <a:spcPct val="100000"/>
              </a:lnSpc>
              <a:spcBef>
                <a:spcPts val="560"/>
              </a:spcBef>
              <a:spcAft>
                <a:spcPts val="0"/>
              </a:spcAft>
              <a:buClr>
                <a:srgbClr val="FEB80A"/>
              </a:buClr>
              <a:buSzPts val="2660"/>
              <a:buFont typeface="Noto Sans Symbols"/>
              <a:buChar char="⚫"/>
            </a:pPr>
            <a:r>
              <a:rPr b="1" i="0" lang="en-US" sz="2800" u="none">
                <a:solidFill>
                  <a:schemeClr val="dk1"/>
                </a:solidFill>
                <a:latin typeface="Constantia"/>
                <a:ea typeface="Constantia"/>
                <a:cs typeface="Constantia"/>
                <a:sym typeface="Constantia"/>
              </a:rPr>
              <a:t>Professionalism</a:t>
            </a:r>
            <a:endParaRPr/>
          </a:p>
          <a:p>
            <a:pPr indent="-273050" lvl="0" marL="273050" marR="0" rtl="0" algn="l">
              <a:lnSpc>
                <a:spcPct val="100000"/>
              </a:lnSpc>
              <a:spcBef>
                <a:spcPts val="560"/>
              </a:spcBef>
              <a:spcAft>
                <a:spcPts val="0"/>
              </a:spcAft>
              <a:buClr>
                <a:srgbClr val="FEB80A"/>
              </a:buClr>
              <a:buSzPts val="2660"/>
              <a:buFont typeface="Noto Sans Symbols"/>
              <a:buNone/>
            </a:pPr>
            <a:r>
              <a:rPr b="0" i="0" lang="en-US" sz="2800" u="none">
                <a:solidFill>
                  <a:schemeClr val="dk1"/>
                </a:solidFill>
                <a:latin typeface="Constantia"/>
                <a:ea typeface="Constantia"/>
                <a:cs typeface="Constantia"/>
                <a:sym typeface="Constantia"/>
              </a:rPr>
              <a:t>All employees must show integrity and high quality professionalism in the workplace:</a:t>
            </a:r>
            <a:endParaRPr/>
          </a:p>
          <a:p>
            <a:pPr indent="-273050" lvl="0" marL="273050" marR="0" rtl="0" algn="l">
              <a:lnSpc>
                <a:spcPct val="100000"/>
              </a:lnSpc>
              <a:spcBef>
                <a:spcPts val="560"/>
              </a:spcBef>
              <a:spcAft>
                <a:spcPts val="0"/>
              </a:spcAft>
              <a:buClr>
                <a:srgbClr val="FEB80A"/>
              </a:buClr>
              <a:buSzPts val="2660"/>
              <a:buFont typeface="Noto Sans Symbols"/>
              <a:buChar char="⚫"/>
            </a:pPr>
            <a:r>
              <a:rPr b="0" i="0" lang="en-US" sz="2800" u="none">
                <a:solidFill>
                  <a:schemeClr val="dk1"/>
                </a:solidFill>
                <a:latin typeface="Constantia"/>
                <a:ea typeface="Constantia"/>
                <a:cs typeface="Constantia"/>
                <a:sym typeface="Constantia"/>
              </a:rPr>
              <a:t>Personal Appearance</a:t>
            </a:r>
            <a:endParaRPr/>
          </a:p>
          <a:p>
            <a:pPr indent="-273050" lvl="0" marL="273050" marR="0" rtl="0" algn="l">
              <a:lnSpc>
                <a:spcPct val="100000"/>
              </a:lnSpc>
              <a:spcBef>
                <a:spcPts val="560"/>
              </a:spcBef>
              <a:spcAft>
                <a:spcPts val="0"/>
              </a:spcAft>
              <a:buClr>
                <a:srgbClr val="FEB80A"/>
              </a:buClr>
              <a:buSzPts val="2660"/>
              <a:buFont typeface="Noto Sans Symbols"/>
              <a:buChar char="⚫"/>
            </a:pPr>
            <a:r>
              <a:rPr b="0" i="0" lang="en-US" sz="2800" u="none">
                <a:solidFill>
                  <a:schemeClr val="dk1"/>
                </a:solidFill>
                <a:latin typeface="Constantia"/>
                <a:ea typeface="Constantia"/>
                <a:cs typeface="Constantia"/>
                <a:sym typeface="Constantia"/>
              </a:rPr>
              <a:t>Corruption</a:t>
            </a:r>
            <a:endParaRPr/>
          </a:p>
          <a:p>
            <a:pPr indent="-273050" lvl="0" marL="273050" marR="0" rtl="0" algn="l">
              <a:lnSpc>
                <a:spcPct val="100000"/>
              </a:lnSpc>
              <a:spcBef>
                <a:spcPts val="560"/>
              </a:spcBef>
              <a:spcAft>
                <a:spcPts val="0"/>
              </a:spcAft>
              <a:buClr>
                <a:srgbClr val="FEB80A"/>
              </a:buClr>
              <a:buSzPts val="2660"/>
              <a:buFont typeface="Noto Sans Symbols"/>
              <a:buChar char="⚫"/>
            </a:pPr>
            <a:r>
              <a:rPr b="0" i="0" lang="en-US" sz="2800" u="none">
                <a:solidFill>
                  <a:schemeClr val="dk1"/>
                </a:solidFill>
                <a:latin typeface="Constantia"/>
                <a:ea typeface="Constantia"/>
                <a:cs typeface="Constantia"/>
                <a:sym typeface="Constantia"/>
              </a:rPr>
              <a:t>Job duties and authority</a:t>
            </a:r>
            <a:endParaRPr/>
          </a:p>
          <a:p>
            <a:pPr indent="-273050" lvl="0" marL="273050" marR="0" rtl="0" algn="l">
              <a:lnSpc>
                <a:spcPct val="100000"/>
              </a:lnSpc>
              <a:spcBef>
                <a:spcPts val="560"/>
              </a:spcBef>
              <a:spcAft>
                <a:spcPts val="0"/>
              </a:spcAft>
              <a:buClr>
                <a:srgbClr val="FEB80A"/>
              </a:buClr>
              <a:buSzPts val="2660"/>
              <a:buFont typeface="Noto Sans Symbols"/>
              <a:buChar char="⚫"/>
            </a:pPr>
            <a:r>
              <a:rPr b="0" i="0" lang="en-US" sz="2800" u="none">
                <a:solidFill>
                  <a:schemeClr val="dk1"/>
                </a:solidFill>
                <a:latin typeface="Constantia"/>
                <a:ea typeface="Constantia"/>
                <a:cs typeface="Constantia"/>
                <a:sym typeface="Constantia"/>
              </a:rPr>
              <a:t>Absenteeism and Tardiness</a:t>
            </a:r>
            <a:endParaRPr/>
          </a:p>
          <a:p>
            <a:pPr indent="-273050" lvl="0" marL="273050" marR="0" rtl="0" algn="l">
              <a:lnSpc>
                <a:spcPct val="100000"/>
              </a:lnSpc>
              <a:spcBef>
                <a:spcPts val="560"/>
              </a:spcBef>
              <a:spcAft>
                <a:spcPts val="0"/>
              </a:spcAft>
              <a:buClr>
                <a:srgbClr val="FEB80A"/>
              </a:buClr>
              <a:buSzPts val="2660"/>
              <a:buFont typeface="Noto Sans Symbols"/>
              <a:buChar char="⚫"/>
            </a:pPr>
            <a:r>
              <a:rPr b="0" i="0" lang="en-US" sz="2800" u="none">
                <a:solidFill>
                  <a:schemeClr val="dk1"/>
                </a:solidFill>
                <a:latin typeface="Constantia"/>
                <a:ea typeface="Constantia"/>
                <a:cs typeface="Constantia"/>
                <a:sym typeface="Constantia"/>
              </a:rPr>
              <a:t>Conflict of Interest</a:t>
            </a:r>
            <a:endParaRPr b="1" i="0" sz="2800" u="none">
              <a:solidFill>
                <a:schemeClr val="dk1"/>
              </a:solidFill>
              <a:latin typeface="Constantia"/>
              <a:ea typeface="Constantia"/>
              <a:cs typeface="Constantia"/>
              <a:sym typeface="Constantia"/>
            </a:endParaRPr>
          </a:p>
          <a:p>
            <a:pPr indent="-80010" lvl="0" marL="273050" marR="0" rtl="0" algn="l">
              <a:lnSpc>
                <a:spcPct val="100000"/>
              </a:lnSpc>
              <a:spcBef>
                <a:spcPts val="640"/>
              </a:spcBef>
              <a:spcAft>
                <a:spcPts val="0"/>
              </a:spcAft>
              <a:buClr>
                <a:srgbClr val="FEB80A"/>
              </a:buClr>
              <a:buSzPts val="3040"/>
              <a:buFont typeface="Noto Sans Symbols"/>
              <a:buNone/>
            </a:pPr>
            <a:r>
              <a:t/>
            </a:r>
            <a:endParaRPr b="0" i="0" sz="3200" u="none">
              <a:solidFill>
                <a:schemeClr val="dk1"/>
              </a:solidFill>
              <a:latin typeface="Constantia"/>
              <a:ea typeface="Constantia"/>
              <a:cs typeface="Constantia"/>
              <a:sym typeface="Constantia"/>
            </a:endParaRPr>
          </a:p>
          <a:p>
            <a:pPr indent="-273050" lvl="0" marL="273050" marR="0" rtl="0" algn="l">
              <a:lnSpc>
                <a:spcPct val="100000"/>
              </a:lnSpc>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0"/>
          <p:cNvSpPr txBox="1"/>
          <p:nvPr>
            <p:ph type="title"/>
          </p:nvPr>
        </p:nvSpPr>
        <p:spPr>
          <a:xfrm>
            <a:off x="354012" y="838200"/>
            <a:ext cx="8637587" cy="701675"/>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Unethical Behavior vs Ethical Behavior</a:t>
            </a:r>
            <a:endParaRPr/>
          </a:p>
        </p:txBody>
      </p:sp>
      <p:sp>
        <p:nvSpPr>
          <p:cNvPr id="199" name="Google Shape;199;p30"/>
          <p:cNvSpPr txBox="1"/>
          <p:nvPr>
            <p:ph idx="1" type="body"/>
          </p:nvPr>
        </p:nvSpPr>
        <p:spPr>
          <a:xfrm>
            <a:off x="354012" y="1905000"/>
            <a:ext cx="8385175"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40"/>
              <a:buNone/>
            </a:pPr>
            <a:r>
              <a:rPr b="1" i="0" lang="en-US" sz="3200" u="none">
                <a:solidFill>
                  <a:schemeClr val="dk1"/>
                </a:solidFill>
                <a:latin typeface="Constantia"/>
                <a:ea typeface="Constantia"/>
                <a:cs typeface="Constantia"/>
                <a:sym typeface="Constantia"/>
              </a:rPr>
              <a:t>Unethical Behavior</a:t>
            </a:r>
            <a:endParaRPr/>
          </a:p>
          <a:p>
            <a:pPr indent="0" lvl="0" marL="0" rtl="0" algn="l">
              <a:lnSpc>
                <a:spcPct val="100000"/>
              </a:lnSpc>
              <a:spcBef>
                <a:spcPts val="640"/>
              </a:spcBef>
              <a:spcAft>
                <a:spcPts val="0"/>
              </a:spcAft>
              <a:buSzPts val="3040"/>
              <a:buNone/>
            </a:pPr>
            <a:r>
              <a:rPr b="0" i="0" lang="en-US" sz="3200" u="none">
                <a:solidFill>
                  <a:schemeClr val="dk1"/>
                </a:solidFill>
                <a:latin typeface="Constantia"/>
                <a:ea typeface="Constantia"/>
                <a:cs typeface="Constantia"/>
                <a:sym typeface="Constantia"/>
              </a:rPr>
              <a:t>A worker ignores a struggling colleague and focuses only on their own tasks even if they have spare time.</a:t>
            </a:r>
            <a:endParaRPr/>
          </a:p>
          <a:p>
            <a:pPr indent="0" lvl="0" marL="0" rtl="0" algn="l">
              <a:lnSpc>
                <a:spcPct val="100000"/>
              </a:lnSpc>
              <a:spcBef>
                <a:spcPts val="640"/>
              </a:spcBef>
              <a:spcAft>
                <a:spcPts val="0"/>
              </a:spcAft>
              <a:buSzPts val="3040"/>
              <a:buNone/>
            </a:pPr>
            <a:r>
              <a:t/>
            </a:r>
            <a:endParaRPr b="0" i="0" sz="3200" u="none">
              <a:solidFill>
                <a:schemeClr val="dk1"/>
              </a:solidFill>
              <a:latin typeface="Constantia"/>
              <a:ea typeface="Constantia"/>
              <a:cs typeface="Constantia"/>
              <a:sym typeface="Constantia"/>
            </a:endParaRPr>
          </a:p>
          <a:p>
            <a:pPr indent="0" lvl="0" marL="0" rtl="0" algn="l">
              <a:lnSpc>
                <a:spcPct val="100000"/>
              </a:lnSpc>
              <a:spcBef>
                <a:spcPts val="640"/>
              </a:spcBef>
              <a:spcAft>
                <a:spcPts val="0"/>
              </a:spcAft>
              <a:buSzPts val="3040"/>
              <a:buNone/>
            </a:pPr>
            <a:r>
              <a:rPr b="1" i="0" lang="en-US" sz="3200" u="none">
                <a:solidFill>
                  <a:schemeClr val="dk1"/>
                </a:solidFill>
                <a:latin typeface="Constantia"/>
                <a:ea typeface="Constantia"/>
                <a:cs typeface="Constantia"/>
                <a:sym typeface="Constantia"/>
              </a:rPr>
              <a:t>Ethical Behavior</a:t>
            </a:r>
            <a:endParaRPr/>
          </a:p>
          <a:p>
            <a:pPr indent="0" lvl="0" marL="0" rtl="0" algn="l">
              <a:lnSpc>
                <a:spcPct val="100000"/>
              </a:lnSpc>
              <a:spcBef>
                <a:spcPts val="640"/>
              </a:spcBef>
              <a:spcAft>
                <a:spcPts val="0"/>
              </a:spcAft>
              <a:buSzPts val="3040"/>
              <a:buNone/>
            </a:pPr>
            <a:r>
              <a:rPr b="0" i="0" lang="en-US" sz="3200" u="none">
                <a:solidFill>
                  <a:schemeClr val="dk1"/>
                </a:solidFill>
                <a:latin typeface="Constantia"/>
                <a:ea typeface="Constantia"/>
                <a:cs typeface="Constantia"/>
                <a:sym typeface="Constantia"/>
              </a:rPr>
              <a:t>A worker offers help to a colleague who is struggling when they have time available.</a:t>
            </a:r>
            <a:endParaRPr/>
          </a:p>
          <a:p>
            <a:pPr indent="-80010" lvl="0" marL="273050" rtl="0" algn="l">
              <a:spcBef>
                <a:spcPts val="640"/>
              </a:spcBef>
              <a:spcAft>
                <a:spcPts val="0"/>
              </a:spcAft>
              <a:buSzPts val="3040"/>
              <a:buNone/>
            </a:pPr>
            <a:r>
              <a:t/>
            </a:r>
            <a:endParaRPr b="0" i="0" sz="3200" u="none">
              <a:solidFill>
                <a:schemeClr val="dk1"/>
              </a:solidFill>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0" st="0"/>
                                            </p:txEl>
                                          </p:spTgt>
                                        </p:tgtEl>
                                        <p:attrNameLst>
                                          <p:attrName>style.visibility</p:attrName>
                                        </p:attrNameLst>
                                      </p:cBhvr>
                                      <p:to>
                                        <p:strVal val="visible"/>
                                      </p:to>
                                    </p:set>
                                    <p:animEffect filter="fade" transition="in">
                                      <p:cBhvr>
                                        <p:cTn dur="500"/>
                                        <p:tgtEl>
                                          <p:spTgt spid="1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1" st="1"/>
                                            </p:txEl>
                                          </p:spTgt>
                                        </p:tgtEl>
                                        <p:attrNameLst>
                                          <p:attrName>style.visibility</p:attrName>
                                        </p:attrNameLst>
                                      </p:cBhvr>
                                      <p:to>
                                        <p:strVal val="visible"/>
                                      </p:to>
                                    </p:set>
                                    <p:animEffect filter="fade" transition="in">
                                      <p:cBhvr>
                                        <p:cTn dur="500"/>
                                        <p:tgtEl>
                                          <p:spTgt spid="1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2" st="2"/>
                                            </p:txEl>
                                          </p:spTgt>
                                        </p:tgtEl>
                                        <p:attrNameLst>
                                          <p:attrName>style.visibility</p:attrName>
                                        </p:attrNameLst>
                                      </p:cBhvr>
                                      <p:to>
                                        <p:strVal val="visible"/>
                                      </p:to>
                                    </p:set>
                                    <p:animEffect filter="fade" transition="in">
                                      <p:cBhvr>
                                        <p:cTn dur="500"/>
                                        <p:tgtEl>
                                          <p:spTgt spid="1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3" st="3"/>
                                            </p:txEl>
                                          </p:spTgt>
                                        </p:tgtEl>
                                        <p:attrNameLst>
                                          <p:attrName>style.visibility</p:attrName>
                                        </p:attrNameLst>
                                      </p:cBhvr>
                                      <p:to>
                                        <p:strVal val="visible"/>
                                      </p:to>
                                    </p:set>
                                    <p:animEffect filter="fade" transition="in">
                                      <p:cBhvr>
                                        <p:cTn dur="500"/>
                                        <p:tgtEl>
                                          <p:spTgt spid="1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4" st="4"/>
                                            </p:txEl>
                                          </p:spTgt>
                                        </p:tgtEl>
                                        <p:attrNameLst>
                                          <p:attrName>style.visibility</p:attrName>
                                        </p:attrNameLst>
                                      </p:cBhvr>
                                      <p:to>
                                        <p:strVal val="visible"/>
                                      </p:to>
                                    </p:set>
                                    <p:animEffect filter="fade" transition="in">
                                      <p:cBhvr>
                                        <p:cTn dur="500"/>
                                        <p:tgtEl>
                                          <p:spTgt spid="1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xEl>
                                              <p:pRg end="5" st="5"/>
                                            </p:txEl>
                                          </p:spTgt>
                                        </p:tgtEl>
                                        <p:attrNameLst>
                                          <p:attrName>style.visibility</p:attrName>
                                        </p:attrNameLst>
                                      </p:cBhvr>
                                      <p:to>
                                        <p:strVal val="visible"/>
                                      </p:to>
                                    </p:set>
                                    <p:animEffect filter="fade" transition="in">
                                      <p:cBhvr>
                                        <p:cTn dur="500"/>
                                        <p:tgtEl>
                                          <p:spTgt spid="199">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1"/>
          <p:cNvSpPr txBox="1"/>
          <p:nvPr>
            <p:ph idx="1" type="body"/>
          </p:nvPr>
        </p:nvSpPr>
        <p:spPr>
          <a:xfrm>
            <a:off x="354012" y="1371600"/>
            <a:ext cx="8385175"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40"/>
              <a:buNone/>
            </a:pPr>
            <a:r>
              <a:rPr b="1" i="0" lang="en-US" sz="3200" u="none">
                <a:solidFill>
                  <a:schemeClr val="dk1"/>
                </a:solidFill>
                <a:latin typeface="Constantia"/>
                <a:ea typeface="Constantia"/>
                <a:cs typeface="Constantia"/>
                <a:sym typeface="Constantia"/>
              </a:rPr>
              <a:t>Unethical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An employee takes office supplies (pens, paper, etc.) for personal use at home without permission.</a:t>
            </a:r>
            <a:endParaRPr/>
          </a:p>
          <a:p>
            <a:pPr indent="0" lvl="0" marL="0" rtl="0" algn="l">
              <a:lnSpc>
                <a:spcPct val="100000"/>
              </a:lnSpc>
              <a:spcBef>
                <a:spcPts val="640"/>
              </a:spcBef>
              <a:spcAft>
                <a:spcPts val="0"/>
              </a:spcAft>
              <a:buSzPts val="3040"/>
              <a:buNone/>
            </a:pPr>
            <a:r>
              <a:t/>
            </a:r>
            <a:endParaRPr b="0" i="0" sz="3200" u="none">
              <a:solidFill>
                <a:schemeClr val="dk1"/>
              </a:solidFill>
              <a:latin typeface="Constantia"/>
              <a:ea typeface="Constantia"/>
              <a:cs typeface="Constantia"/>
              <a:sym typeface="Constantia"/>
            </a:endParaRPr>
          </a:p>
          <a:p>
            <a:pPr indent="0" lvl="0" marL="0" rtl="0" algn="l">
              <a:lnSpc>
                <a:spcPct val="100000"/>
              </a:lnSpc>
              <a:spcBef>
                <a:spcPts val="640"/>
              </a:spcBef>
              <a:spcAft>
                <a:spcPts val="0"/>
              </a:spcAft>
              <a:buSzPts val="3040"/>
              <a:buNone/>
            </a:pPr>
            <a:r>
              <a:rPr b="1" i="0" lang="en-US" sz="3200" u="none">
                <a:solidFill>
                  <a:schemeClr val="dk1"/>
                </a:solidFill>
                <a:latin typeface="Constantia"/>
                <a:ea typeface="Constantia"/>
                <a:cs typeface="Constantia"/>
                <a:sym typeface="Constantia"/>
              </a:rPr>
              <a:t>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An employee uses company resources only for work and asks permission if something is needed.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0" st="0"/>
                                            </p:txEl>
                                          </p:spTgt>
                                        </p:tgtEl>
                                        <p:attrNameLst>
                                          <p:attrName>style.visibility</p:attrName>
                                        </p:attrNameLst>
                                      </p:cBhvr>
                                      <p:to>
                                        <p:strVal val="visible"/>
                                      </p:to>
                                    </p:set>
                                    <p:animEffect filter="fade" transition="in">
                                      <p:cBhvr>
                                        <p:cTn dur="500"/>
                                        <p:tgtEl>
                                          <p:spTgt spid="20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1" st="1"/>
                                            </p:txEl>
                                          </p:spTgt>
                                        </p:tgtEl>
                                        <p:attrNameLst>
                                          <p:attrName>style.visibility</p:attrName>
                                        </p:attrNameLst>
                                      </p:cBhvr>
                                      <p:to>
                                        <p:strVal val="visible"/>
                                      </p:to>
                                    </p:set>
                                    <p:animEffect filter="fade" transition="in">
                                      <p:cBhvr>
                                        <p:cTn dur="500"/>
                                        <p:tgtEl>
                                          <p:spTgt spid="20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2" st="2"/>
                                            </p:txEl>
                                          </p:spTgt>
                                        </p:tgtEl>
                                        <p:attrNameLst>
                                          <p:attrName>style.visibility</p:attrName>
                                        </p:attrNameLst>
                                      </p:cBhvr>
                                      <p:to>
                                        <p:strVal val="visible"/>
                                      </p:to>
                                    </p:set>
                                    <p:animEffect filter="fade" transition="in">
                                      <p:cBhvr>
                                        <p:cTn dur="500"/>
                                        <p:tgtEl>
                                          <p:spTgt spid="20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3" st="3"/>
                                            </p:txEl>
                                          </p:spTgt>
                                        </p:tgtEl>
                                        <p:attrNameLst>
                                          <p:attrName>style.visibility</p:attrName>
                                        </p:attrNameLst>
                                      </p:cBhvr>
                                      <p:to>
                                        <p:strVal val="visible"/>
                                      </p:to>
                                    </p:set>
                                    <p:animEffect filter="fade" transition="in">
                                      <p:cBhvr>
                                        <p:cTn dur="500"/>
                                        <p:tgtEl>
                                          <p:spTgt spid="20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xEl>
                                              <p:pRg end="4" st="4"/>
                                            </p:txEl>
                                          </p:spTgt>
                                        </p:tgtEl>
                                        <p:attrNameLst>
                                          <p:attrName>style.visibility</p:attrName>
                                        </p:attrNameLst>
                                      </p:cBhvr>
                                      <p:to>
                                        <p:strVal val="visible"/>
                                      </p:to>
                                    </p:set>
                                    <p:animEffect filter="fade" transition="in">
                                      <p:cBhvr>
                                        <p:cTn dur="500"/>
                                        <p:tgtEl>
                                          <p:spTgt spid="205">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2"/>
          <p:cNvSpPr txBox="1"/>
          <p:nvPr>
            <p:ph idx="1" type="body"/>
          </p:nvPr>
        </p:nvSpPr>
        <p:spPr>
          <a:xfrm>
            <a:off x="354012" y="1371600"/>
            <a:ext cx="8385175"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40"/>
              <a:buNone/>
            </a:pPr>
            <a:r>
              <a:rPr b="1" i="0" lang="en-US" sz="3200" u="none">
                <a:solidFill>
                  <a:schemeClr val="dk1"/>
                </a:solidFill>
                <a:latin typeface="Constantia"/>
                <a:ea typeface="Constantia"/>
                <a:cs typeface="Constantia"/>
                <a:sym typeface="Constantia"/>
              </a:rPr>
              <a:t>Unethical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 worker spreads rumors or gossip about colleagues in the office.</a:t>
            </a:r>
            <a:endParaRPr/>
          </a:p>
          <a:p>
            <a:pPr indent="0" lvl="0" marL="0" rtl="0" algn="l">
              <a:lnSpc>
                <a:spcPct val="100000"/>
              </a:lnSpc>
              <a:spcBef>
                <a:spcPts val="640"/>
              </a:spcBef>
              <a:spcAft>
                <a:spcPts val="0"/>
              </a:spcAft>
              <a:buSzPts val="3040"/>
              <a:buNone/>
            </a:pPr>
            <a:r>
              <a:t/>
            </a:r>
            <a:endParaRPr b="0" i="0" sz="3200" u="none">
              <a:solidFill>
                <a:schemeClr val="dk1"/>
              </a:solidFill>
              <a:latin typeface="Constantia"/>
              <a:ea typeface="Constantia"/>
              <a:cs typeface="Constantia"/>
              <a:sym typeface="Constantia"/>
            </a:endParaRPr>
          </a:p>
          <a:p>
            <a:pPr indent="0" lvl="0" marL="0" rtl="0" algn="l">
              <a:lnSpc>
                <a:spcPct val="100000"/>
              </a:lnSpc>
              <a:spcBef>
                <a:spcPts val="640"/>
              </a:spcBef>
              <a:spcAft>
                <a:spcPts val="0"/>
              </a:spcAft>
              <a:buSzPts val="3040"/>
              <a:buNone/>
            </a:pPr>
            <a:r>
              <a:rPr b="1" i="0" lang="en-US" sz="3200" u="none">
                <a:solidFill>
                  <a:schemeClr val="dk1"/>
                </a:solidFill>
                <a:latin typeface="Constantia"/>
                <a:ea typeface="Constantia"/>
                <a:cs typeface="Constantia"/>
                <a:sym typeface="Constantia"/>
              </a:rPr>
              <a:t>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 worker maintains professionalism and respects the reputation of colleagues.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0" st="0"/>
                                            </p:txEl>
                                          </p:spTgt>
                                        </p:tgtEl>
                                        <p:attrNameLst>
                                          <p:attrName>style.visibility</p:attrName>
                                        </p:attrNameLst>
                                      </p:cBhvr>
                                      <p:to>
                                        <p:strVal val="visible"/>
                                      </p:to>
                                    </p:set>
                                    <p:animEffect filter="fade" transition="in">
                                      <p:cBhvr>
                                        <p:cTn dur="500"/>
                                        <p:tgtEl>
                                          <p:spTgt spid="21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1" st="1"/>
                                            </p:txEl>
                                          </p:spTgt>
                                        </p:tgtEl>
                                        <p:attrNameLst>
                                          <p:attrName>style.visibility</p:attrName>
                                        </p:attrNameLst>
                                      </p:cBhvr>
                                      <p:to>
                                        <p:strVal val="visible"/>
                                      </p:to>
                                    </p:set>
                                    <p:animEffect filter="fade" transition="in">
                                      <p:cBhvr>
                                        <p:cTn dur="500"/>
                                        <p:tgtEl>
                                          <p:spTgt spid="21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2" st="2"/>
                                            </p:txEl>
                                          </p:spTgt>
                                        </p:tgtEl>
                                        <p:attrNameLst>
                                          <p:attrName>style.visibility</p:attrName>
                                        </p:attrNameLst>
                                      </p:cBhvr>
                                      <p:to>
                                        <p:strVal val="visible"/>
                                      </p:to>
                                    </p:set>
                                    <p:animEffect filter="fade" transition="in">
                                      <p:cBhvr>
                                        <p:cTn dur="500"/>
                                        <p:tgtEl>
                                          <p:spTgt spid="21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3" st="3"/>
                                            </p:txEl>
                                          </p:spTgt>
                                        </p:tgtEl>
                                        <p:attrNameLst>
                                          <p:attrName>style.visibility</p:attrName>
                                        </p:attrNameLst>
                                      </p:cBhvr>
                                      <p:to>
                                        <p:strVal val="visible"/>
                                      </p:to>
                                    </p:set>
                                    <p:animEffect filter="fade" transition="in">
                                      <p:cBhvr>
                                        <p:cTn dur="500"/>
                                        <p:tgtEl>
                                          <p:spTgt spid="21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xEl>
                                              <p:pRg end="4" st="4"/>
                                            </p:txEl>
                                          </p:spTgt>
                                        </p:tgtEl>
                                        <p:attrNameLst>
                                          <p:attrName>style.visibility</p:attrName>
                                        </p:attrNameLst>
                                      </p:cBhvr>
                                      <p:to>
                                        <p:strVal val="visible"/>
                                      </p:to>
                                    </p:set>
                                    <p:animEffect filter="fade" transition="in">
                                      <p:cBhvr>
                                        <p:cTn dur="500"/>
                                        <p:tgtEl>
                                          <p:spTgt spid="21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idx="1" type="body"/>
          </p:nvPr>
        </p:nvSpPr>
        <p:spPr>
          <a:xfrm>
            <a:off x="354012" y="1371600"/>
            <a:ext cx="8385175"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40"/>
              <a:buNone/>
            </a:pPr>
            <a:r>
              <a:rPr b="1" i="0" lang="en-US" sz="3200" u="none">
                <a:solidFill>
                  <a:schemeClr val="dk1"/>
                </a:solidFill>
                <a:latin typeface="Constantia"/>
                <a:ea typeface="Constantia"/>
                <a:cs typeface="Constantia"/>
                <a:sym typeface="Constantia"/>
              </a:rPr>
              <a:t>Unethical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An employee shares confidential company information with outsiders.</a:t>
            </a:r>
            <a:endParaRPr/>
          </a:p>
          <a:p>
            <a:pPr indent="0" lvl="0" marL="0" rtl="0" algn="l">
              <a:lnSpc>
                <a:spcPct val="100000"/>
              </a:lnSpc>
              <a:spcBef>
                <a:spcPts val="640"/>
              </a:spcBef>
              <a:spcAft>
                <a:spcPts val="0"/>
              </a:spcAft>
              <a:buSzPts val="3040"/>
              <a:buNone/>
            </a:pPr>
            <a:r>
              <a:t/>
            </a:r>
            <a:endParaRPr b="0" i="0" sz="3200" u="none">
              <a:solidFill>
                <a:schemeClr val="dk1"/>
              </a:solidFill>
              <a:latin typeface="Constantia"/>
              <a:ea typeface="Constantia"/>
              <a:cs typeface="Constantia"/>
              <a:sym typeface="Constantia"/>
            </a:endParaRPr>
          </a:p>
          <a:p>
            <a:pPr indent="0" lvl="0" marL="0" rtl="0" algn="l">
              <a:lnSpc>
                <a:spcPct val="100000"/>
              </a:lnSpc>
              <a:spcBef>
                <a:spcPts val="640"/>
              </a:spcBef>
              <a:spcAft>
                <a:spcPts val="0"/>
              </a:spcAft>
              <a:buSzPts val="3040"/>
              <a:buNone/>
            </a:pPr>
            <a:r>
              <a:rPr b="1" i="0" lang="en-US" sz="3200" u="none">
                <a:solidFill>
                  <a:schemeClr val="dk1"/>
                </a:solidFill>
                <a:latin typeface="Constantia"/>
                <a:ea typeface="Constantia"/>
                <a:cs typeface="Constantia"/>
                <a:sym typeface="Constantia"/>
              </a:rPr>
              <a:t>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An employee protects and keeps confidential company information secure.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0" st="0"/>
                                            </p:txEl>
                                          </p:spTgt>
                                        </p:tgtEl>
                                        <p:attrNameLst>
                                          <p:attrName>style.visibility</p:attrName>
                                        </p:attrNameLst>
                                      </p:cBhvr>
                                      <p:to>
                                        <p:strVal val="visible"/>
                                      </p:to>
                                    </p:set>
                                    <p:animEffect filter="fade" transition="in">
                                      <p:cBhvr>
                                        <p:cTn dur="500"/>
                                        <p:tgtEl>
                                          <p:spTgt spid="2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1" st="1"/>
                                            </p:txEl>
                                          </p:spTgt>
                                        </p:tgtEl>
                                        <p:attrNameLst>
                                          <p:attrName>style.visibility</p:attrName>
                                        </p:attrNameLst>
                                      </p:cBhvr>
                                      <p:to>
                                        <p:strVal val="visible"/>
                                      </p:to>
                                    </p:set>
                                    <p:animEffect filter="fade" transition="in">
                                      <p:cBhvr>
                                        <p:cTn dur="500"/>
                                        <p:tgtEl>
                                          <p:spTgt spid="2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2" st="2"/>
                                            </p:txEl>
                                          </p:spTgt>
                                        </p:tgtEl>
                                        <p:attrNameLst>
                                          <p:attrName>style.visibility</p:attrName>
                                        </p:attrNameLst>
                                      </p:cBhvr>
                                      <p:to>
                                        <p:strVal val="visible"/>
                                      </p:to>
                                    </p:set>
                                    <p:animEffect filter="fade" transition="in">
                                      <p:cBhvr>
                                        <p:cTn dur="500"/>
                                        <p:tgtEl>
                                          <p:spTgt spid="2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3" st="3"/>
                                            </p:txEl>
                                          </p:spTgt>
                                        </p:tgtEl>
                                        <p:attrNameLst>
                                          <p:attrName>style.visibility</p:attrName>
                                        </p:attrNameLst>
                                      </p:cBhvr>
                                      <p:to>
                                        <p:strVal val="visible"/>
                                      </p:to>
                                    </p:set>
                                    <p:animEffect filter="fade" transition="in">
                                      <p:cBhvr>
                                        <p:cTn dur="500"/>
                                        <p:tgtEl>
                                          <p:spTgt spid="2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7">
                                            <p:txEl>
                                              <p:pRg end="4" st="4"/>
                                            </p:txEl>
                                          </p:spTgt>
                                        </p:tgtEl>
                                        <p:attrNameLst>
                                          <p:attrName>style.visibility</p:attrName>
                                        </p:attrNameLst>
                                      </p:cBhvr>
                                      <p:to>
                                        <p:strVal val="visible"/>
                                      </p:to>
                                    </p:set>
                                    <p:animEffect filter="fade" transition="in">
                                      <p:cBhvr>
                                        <p:cTn dur="500"/>
                                        <p:tgtEl>
                                          <p:spTgt spid="21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4"/>
          <p:cNvSpPr txBox="1"/>
          <p:nvPr>
            <p:ph idx="1" type="body"/>
          </p:nvPr>
        </p:nvSpPr>
        <p:spPr>
          <a:xfrm>
            <a:off x="354012" y="1371600"/>
            <a:ext cx="8385175"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40"/>
              <a:buNone/>
            </a:pPr>
            <a:r>
              <a:rPr b="1" i="0" lang="en-US" sz="3200" u="none">
                <a:solidFill>
                  <a:schemeClr val="dk1"/>
                </a:solidFill>
                <a:latin typeface="Constantia"/>
                <a:ea typeface="Constantia"/>
                <a:cs typeface="Constantia"/>
                <a:sym typeface="Constantia"/>
              </a:rPr>
              <a:t>Unethical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 worker blames a colleague for a mistake they actually made.</a:t>
            </a:r>
            <a:endParaRPr/>
          </a:p>
          <a:p>
            <a:pPr indent="0" lvl="0" marL="0" rtl="0" algn="l">
              <a:lnSpc>
                <a:spcPct val="100000"/>
              </a:lnSpc>
              <a:spcBef>
                <a:spcPts val="640"/>
              </a:spcBef>
              <a:spcAft>
                <a:spcPts val="0"/>
              </a:spcAft>
              <a:buSzPts val="3040"/>
              <a:buNone/>
            </a:pPr>
            <a:r>
              <a:t/>
            </a:r>
            <a:endParaRPr b="0" i="0" sz="3200" u="none">
              <a:solidFill>
                <a:schemeClr val="dk1"/>
              </a:solidFill>
              <a:latin typeface="Constantia"/>
              <a:ea typeface="Constantia"/>
              <a:cs typeface="Constantia"/>
              <a:sym typeface="Constantia"/>
            </a:endParaRPr>
          </a:p>
          <a:p>
            <a:pPr indent="0" lvl="0" marL="0" rtl="0" algn="l">
              <a:lnSpc>
                <a:spcPct val="100000"/>
              </a:lnSpc>
              <a:spcBef>
                <a:spcPts val="640"/>
              </a:spcBef>
              <a:spcAft>
                <a:spcPts val="0"/>
              </a:spcAft>
              <a:buSzPts val="3040"/>
              <a:buNone/>
            </a:pPr>
            <a:r>
              <a:rPr b="1" i="0" lang="en-US" sz="3200" u="none">
                <a:solidFill>
                  <a:schemeClr val="dk1"/>
                </a:solidFill>
                <a:latin typeface="Constantia"/>
                <a:ea typeface="Constantia"/>
                <a:cs typeface="Constantia"/>
                <a:sym typeface="Constantia"/>
              </a:rPr>
              <a:t>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 worker takes responsibility for their mistakes and works to correct them.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0" st="0"/>
                                            </p:txEl>
                                          </p:spTgt>
                                        </p:tgtEl>
                                        <p:attrNameLst>
                                          <p:attrName>style.visibility</p:attrName>
                                        </p:attrNameLst>
                                      </p:cBhvr>
                                      <p:to>
                                        <p:strVal val="visible"/>
                                      </p:to>
                                    </p:set>
                                    <p:animEffect filter="fade" transition="in">
                                      <p:cBhvr>
                                        <p:cTn dur="500"/>
                                        <p:tgtEl>
                                          <p:spTgt spid="22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1" st="1"/>
                                            </p:txEl>
                                          </p:spTgt>
                                        </p:tgtEl>
                                        <p:attrNameLst>
                                          <p:attrName>style.visibility</p:attrName>
                                        </p:attrNameLst>
                                      </p:cBhvr>
                                      <p:to>
                                        <p:strVal val="visible"/>
                                      </p:to>
                                    </p:set>
                                    <p:animEffect filter="fade" transition="in">
                                      <p:cBhvr>
                                        <p:cTn dur="500"/>
                                        <p:tgtEl>
                                          <p:spTgt spid="22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2" st="2"/>
                                            </p:txEl>
                                          </p:spTgt>
                                        </p:tgtEl>
                                        <p:attrNameLst>
                                          <p:attrName>style.visibility</p:attrName>
                                        </p:attrNameLst>
                                      </p:cBhvr>
                                      <p:to>
                                        <p:strVal val="visible"/>
                                      </p:to>
                                    </p:set>
                                    <p:animEffect filter="fade" transition="in">
                                      <p:cBhvr>
                                        <p:cTn dur="500"/>
                                        <p:tgtEl>
                                          <p:spTgt spid="22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3" st="3"/>
                                            </p:txEl>
                                          </p:spTgt>
                                        </p:tgtEl>
                                        <p:attrNameLst>
                                          <p:attrName>style.visibility</p:attrName>
                                        </p:attrNameLst>
                                      </p:cBhvr>
                                      <p:to>
                                        <p:strVal val="visible"/>
                                      </p:to>
                                    </p:set>
                                    <p:animEffect filter="fade" transition="in">
                                      <p:cBhvr>
                                        <p:cTn dur="500"/>
                                        <p:tgtEl>
                                          <p:spTgt spid="22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
                                            <p:txEl>
                                              <p:pRg end="4" st="4"/>
                                            </p:txEl>
                                          </p:spTgt>
                                        </p:tgtEl>
                                        <p:attrNameLst>
                                          <p:attrName>style.visibility</p:attrName>
                                        </p:attrNameLst>
                                      </p:cBhvr>
                                      <p:to>
                                        <p:strVal val="visible"/>
                                      </p:to>
                                    </p:set>
                                    <p:animEffect filter="fade" transition="in">
                                      <p:cBhvr>
                                        <p:cTn dur="500"/>
                                        <p:tgtEl>
                                          <p:spTgt spid="22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5"/>
          <p:cNvSpPr txBox="1"/>
          <p:nvPr>
            <p:ph idx="1" type="body"/>
          </p:nvPr>
        </p:nvSpPr>
        <p:spPr>
          <a:xfrm>
            <a:off x="354012" y="1371600"/>
            <a:ext cx="8385175"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3040"/>
              <a:buNone/>
            </a:pPr>
            <a:r>
              <a:rPr b="1" i="0" lang="en-US" sz="3200" u="none">
                <a:solidFill>
                  <a:schemeClr val="dk1"/>
                </a:solidFill>
                <a:latin typeface="Constantia"/>
                <a:ea typeface="Constantia"/>
                <a:cs typeface="Constantia"/>
                <a:sym typeface="Constantia"/>
              </a:rPr>
              <a:t>Unethical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An employee uses work time to do personal business or browse social media excessively.</a:t>
            </a:r>
            <a:endParaRPr/>
          </a:p>
          <a:p>
            <a:pPr indent="0" lvl="0" marL="0" rtl="0" algn="l">
              <a:lnSpc>
                <a:spcPct val="100000"/>
              </a:lnSpc>
              <a:spcBef>
                <a:spcPts val="640"/>
              </a:spcBef>
              <a:spcAft>
                <a:spcPts val="0"/>
              </a:spcAft>
              <a:buSzPts val="3040"/>
              <a:buNone/>
            </a:pPr>
            <a:r>
              <a:t/>
            </a:r>
            <a:endParaRPr b="0" i="0" sz="3200" u="none">
              <a:solidFill>
                <a:schemeClr val="dk1"/>
              </a:solidFill>
              <a:latin typeface="Constantia"/>
              <a:ea typeface="Constantia"/>
              <a:cs typeface="Constantia"/>
              <a:sym typeface="Constantia"/>
            </a:endParaRPr>
          </a:p>
          <a:p>
            <a:pPr indent="0" lvl="0" marL="0" rtl="0" algn="l">
              <a:lnSpc>
                <a:spcPct val="100000"/>
              </a:lnSpc>
              <a:spcBef>
                <a:spcPts val="640"/>
              </a:spcBef>
              <a:spcAft>
                <a:spcPts val="0"/>
              </a:spcAft>
              <a:buSzPts val="3040"/>
              <a:buNone/>
            </a:pPr>
            <a:r>
              <a:rPr b="1" i="0" lang="en-US" sz="3200" u="none">
                <a:solidFill>
                  <a:schemeClr val="dk1"/>
                </a:solidFill>
                <a:latin typeface="Constantia"/>
                <a:ea typeface="Constantia"/>
                <a:cs typeface="Constantia"/>
                <a:sym typeface="Constantia"/>
              </a:rPr>
              <a:t>Ethical Behavior</a:t>
            </a:r>
            <a:endParaRPr b="0" i="0" sz="3200" u="none">
              <a:solidFill>
                <a:schemeClr val="dk1"/>
              </a:solidFill>
              <a:latin typeface="Constantia"/>
              <a:ea typeface="Constantia"/>
              <a:cs typeface="Constantia"/>
              <a:sym typeface="Constantia"/>
            </a:endParaRPr>
          </a:p>
          <a:p>
            <a:pPr indent="0" lvl="0" marL="0" rtl="0" algn="l">
              <a:lnSpc>
                <a:spcPct val="100000"/>
              </a:lnSpc>
              <a:spcBef>
                <a:spcPts val="520"/>
              </a:spcBef>
              <a:spcAft>
                <a:spcPts val="0"/>
              </a:spcAft>
              <a:buSzPts val="2470"/>
              <a:buNone/>
            </a:pPr>
            <a:r>
              <a:rPr b="0" i="0" lang="en-US" sz="2600" u="none">
                <a:solidFill>
                  <a:schemeClr val="dk1"/>
                </a:solidFill>
                <a:latin typeface="Constantia"/>
                <a:ea typeface="Constantia"/>
                <a:cs typeface="Constantia"/>
                <a:sym typeface="Constantia"/>
              </a:rPr>
              <a:t>An employee manages time responsibly and focuses on assigned tasks during work hours.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animEffect filter="fade" transition="in">
                                      <p:cBhvr>
                                        <p:cTn dur="500"/>
                                        <p:tgtEl>
                                          <p:spTgt spid="22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xEl>
                                              <p:pRg end="1" st="1"/>
                                            </p:txEl>
                                          </p:spTgt>
                                        </p:tgtEl>
                                        <p:attrNameLst>
                                          <p:attrName>style.visibility</p:attrName>
                                        </p:attrNameLst>
                                      </p:cBhvr>
                                      <p:to>
                                        <p:strVal val="visible"/>
                                      </p:to>
                                    </p:set>
                                    <p:animEffect filter="fade" transition="in">
                                      <p:cBhvr>
                                        <p:cTn dur="500"/>
                                        <p:tgtEl>
                                          <p:spTgt spid="22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xEl>
                                              <p:pRg end="2" st="2"/>
                                            </p:txEl>
                                          </p:spTgt>
                                        </p:tgtEl>
                                        <p:attrNameLst>
                                          <p:attrName>style.visibility</p:attrName>
                                        </p:attrNameLst>
                                      </p:cBhvr>
                                      <p:to>
                                        <p:strVal val="visible"/>
                                      </p:to>
                                    </p:set>
                                    <p:animEffect filter="fade" transition="in">
                                      <p:cBhvr>
                                        <p:cTn dur="500"/>
                                        <p:tgtEl>
                                          <p:spTgt spid="22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xEl>
                                              <p:pRg end="3" st="3"/>
                                            </p:txEl>
                                          </p:spTgt>
                                        </p:tgtEl>
                                        <p:attrNameLst>
                                          <p:attrName>style.visibility</p:attrName>
                                        </p:attrNameLst>
                                      </p:cBhvr>
                                      <p:to>
                                        <p:strVal val="visible"/>
                                      </p:to>
                                    </p:set>
                                    <p:animEffect filter="fade" transition="in">
                                      <p:cBhvr>
                                        <p:cTn dur="500"/>
                                        <p:tgtEl>
                                          <p:spTgt spid="22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9">
                                            <p:txEl>
                                              <p:pRg end="4" st="4"/>
                                            </p:txEl>
                                          </p:spTgt>
                                        </p:tgtEl>
                                        <p:attrNameLst>
                                          <p:attrName>style.visibility</p:attrName>
                                        </p:attrNameLst>
                                      </p:cBhvr>
                                      <p:to>
                                        <p:strVal val="visible"/>
                                      </p:to>
                                    </p:set>
                                    <p:animEffect filter="fade" transition="in">
                                      <p:cBhvr>
                                        <p:cTn dur="500"/>
                                        <p:tgtEl>
                                          <p:spTgt spid="229">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6"/>
          <p:cNvSpPr txBox="1"/>
          <p:nvPr>
            <p:ph idx="1" type="body"/>
          </p:nvPr>
        </p:nvSpPr>
        <p:spPr>
          <a:xfrm>
            <a:off x="457200" y="609600"/>
            <a:ext cx="82296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850"/>
              <a:buFont typeface="Noto Sans Symbols"/>
              <a:buNone/>
            </a:pPr>
            <a:r>
              <a:rPr b="1" i="0" lang="en-US" sz="3000" u="sng">
                <a:solidFill>
                  <a:schemeClr val="dk1"/>
                </a:solidFill>
                <a:latin typeface="Calibri"/>
                <a:ea typeface="Calibri"/>
                <a:cs typeface="Calibri"/>
                <a:sym typeface="Calibri"/>
              </a:rPr>
              <a:t>Two Types of Moral Theory</a:t>
            </a:r>
            <a:endParaRPr/>
          </a:p>
          <a:p>
            <a:pPr indent="0" lvl="0" marL="0" marR="0" rtl="0" algn="l">
              <a:lnSpc>
                <a:spcPct val="100000"/>
              </a:lnSpc>
              <a:spcBef>
                <a:spcPts val="200"/>
              </a:spcBef>
              <a:spcAft>
                <a:spcPts val="0"/>
              </a:spcAft>
              <a:buClr>
                <a:srgbClr val="FEB80A"/>
              </a:buClr>
              <a:buSzPts val="950"/>
              <a:buFont typeface="Noto Sans Symbols"/>
              <a:buNone/>
            </a:pPr>
            <a:r>
              <a:t/>
            </a:r>
            <a:endParaRPr b="1" i="0" sz="1000" u="none">
              <a:solidFill>
                <a:schemeClr val="dk1"/>
              </a:solidFill>
              <a:latin typeface="Calibri"/>
              <a:ea typeface="Calibri"/>
              <a:cs typeface="Calibri"/>
              <a:sym typeface="Calibri"/>
            </a:endParaRPr>
          </a:p>
          <a:p>
            <a:pPr indent="0" lvl="0" marL="0" marR="0" rtl="0" algn="l">
              <a:lnSpc>
                <a:spcPct val="100000"/>
              </a:lnSpc>
              <a:spcBef>
                <a:spcPts val="580"/>
              </a:spcBef>
              <a:spcAft>
                <a:spcPts val="0"/>
              </a:spcAft>
              <a:buClr>
                <a:srgbClr val="FEB80A"/>
              </a:buClr>
              <a:buSzPts val="2755"/>
              <a:buFont typeface="Noto Sans Symbols"/>
              <a:buNone/>
            </a:pPr>
            <a:r>
              <a:rPr b="1" i="0" lang="en-US" sz="2900" u="none">
                <a:solidFill>
                  <a:schemeClr val="dk1"/>
                </a:solidFill>
                <a:latin typeface="Calibri"/>
                <a:ea typeface="Calibri"/>
                <a:cs typeface="Calibri"/>
                <a:sym typeface="Calibri"/>
              </a:rPr>
              <a:t>Consequentialist – focuses on the outcomes of actions, settling on whether or not an action is good by knowing the results. </a:t>
            </a:r>
            <a:endParaRPr b="1" i="0" sz="1000" u="none">
              <a:solidFill>
                <a:schemeClr val="dk1"/>
              </a:solidFill>
              <a:latin typeface="Calibri"/>
              <a:ea typeface="Calibri"/>
              <a:cs typeface="Calibri"/>
              <a:sym typeface="Calibri"/>
            </a:endParaRPr>
          </a:p>
          <a:p>
            <a:pPr indent="0" lvl="0" marL="0" marR="0" rtl="0" algn="l">
              <a:lnSpc>
                <a:spcPct val="100000"/>
              </a:lnSpc>
              <a:spcBef>
                <a:spcPts val="580"/>
              </a:spcBef>
              <a:spcAft>
                <a:spcPts val="0"/>
              </a:spcAft>
              <a:buClr>
                <a:srgbClr val="FEB80A"/>
              </a:buClr>
              <a:buSzPts val="2755"/>
              <a:buFont typeface="Noto Sans Symbols"/>
              <a:buNone/>
            </a:pPr>
            <a:r>
              <a:rPr b="1" i="0" lang="en-US" sz="2900" u="none">
                <a:solidFill>
                  <a:schemeClr val="dk1"/>
                </a:solidFill>
                <a:latin typeface="Calibri"/>
                <a:ea typeface="Calibri"/>
                <a:cs typeface="Calibri"/>
                <a:sym typeface="Calibri"/>
              </a:rPr>
              <a:t>Non-consequentialist – centers on the principle that an action is good based on the principle people follow and regardless of the results of the action. </a:t>
            </a:r>
            <a:endParaRPr b="1" i="0" sz="2000" u="none">
              <a:solidFill>
                <a:schemeClr val="dk1"/>
              </a:solidFill>
              <a:latin typeface="Calibri"/>
              <a:ea typeface="Calibri"/>
              <a:cs typeface="Calibri"/>
              <a:sym typeface="Calibri"/>
            </a:endParaRPr>
          </a:p>
          <a:p>
            <a:pPr indent="-152400" lvl="0" marL="273050" marR="0" rtl="0" algn="l">
              <a:spcBef>
                <a:spcPts val="400"/>
              </a:spcBef>
              <a:spcAft>
                <a:spcPts val="0"/>
              </a:spcAft>
              <a:buClr>
                <a:srgbClr val="FEB80A"/>
              </a:buClr>
              <a:buSzPts val="1900"/>
              <a:buFont typeface="Noto Sans Symbols"/>
              <a:buNone/>
            </a:pPr>
            <a:r>
              <a:t/>
            </a:r>
            <a:endParaRPr b="1" i="0" sz="2000" u="non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4">
                                            <p:txEl>
                                              <p:pRg end="0" st="0"/>
                                            </p:txEl>
                                          </p:spTgt>
                                        </p:tgtEl>
                                        <p:attrNameLst>
                                          <p:attrName>style.visibility</p:attrName>
                                        </p:attrNameLst>
                                      </p:cBhvr>
                                      <p:to>
                                        <p:strVal val="visible"/>
                                      </p:to>
                                    </p:set>
                                    <p:anim calcmode="lin" valueType="num">
                                      <p:cBhvr additive="base">
                                        <p:cTn dur="500"/>
                                        <p:tgtEl>
                                          <p:spTgt spid="234">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4">
                                            <p:txEl>
                                              <p:pRg end="1" st="1"/>
                                            </p:txEl>
                                          </p:spTgt>
                                        </p:tgtEl>
                                        <p:attrNameLst>
                                          <p:attrName>style.visibility</p:attrName>
                                        </p:attrNameLst>
                                      </p:cBhvr>
                                      <p:to>
                                        <p:strVal val="visible"/>
                                      </p:to>
                                    </p:set>
                                    <p:anim calcmode="lin" valueType="num">
                                      <p:cBhvr additive="base">
                                        <p:cTn dur="500"/>
                                        <p:tgtEl>
                                          <p:spTgt spid="234">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4">
                                            <p:txEl>
                                              <p:pRg end="2" st="2"/>
                                            </p:txEl>
                                          </p:spTgt>
                                        </p:tgtEl>
                                        <p:attrNameLst>
                                          <p:attrName>style.visibility</p:attrName>
                                        </p:attrNameLst>
                                      </p:cBhvr>
                                      <p:to>
                                        <p:strVal val="visible"/>
                                      </p:to>
                                    </p:set>
                                    <p:anim calcmode="lin" valueType="num">
                                      <p:cBhvr additive="base">
                                        <p:cTn dur="500"/>
                                        <p:tgtEl>
                                          <p:spTgt spid="234">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4">
                                            <p:txEl>
                                              <p:pRg end="3" st="3"/>
                                            </p:txEl>
                                          </p:spTgt>
                                        </p:tgtEl>
                                        <p:attrNameLst>
                                          <p:attrName>style.visibility</p:attrName>
                                        </p:attrNameLst>
                                      </p:cBhvr>
                                      <p:to>
                                        <p:strVal val="visible"/>
                                      </p:to>
                                    </p:set>
                                    <p:anim calcmode="lin" valueType="num">
                                      <p:cBhvr additive="base">
                                        <p:cTn dur="500"/>
                                        <p:tgtEl>
                                          <p:spTgt spid="234">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4">
                                            <p:txEl>
                                              <p:pRg end="4" st="4"/>
                                            </p:txEl>
                                          </p:spTgt>
                                        </p:tgtEl>
                                        <p:attrNameLst>
                                          <p:attrName>style.visibility</p:attrName>
                                        </p:attrNameLst>
                                      </p:cBhvr>
                                      <p:to>
                                        <p:strVal val="visible"/>
                                      </p:to>
                                    </p:set>
                                    <p:anim calcmode="lin" valueType="num">
                                      <p:cBhvr additive="base">
                                        <p:cTn dur="500"/>
                                        <p:tgtEl>
                                          <p:spTgt spid="234">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7"/>
          <p:cNvSpPr txBox="1"/>
          <p:nvPr>
            <p:ph idx="1" type="body"/>
          </p:nvPr>
        </p:nvSpPr>
        <p:spPr>
          <a:xfrm>
            <a:off x="304800" y="685800"/>
            <a:ext cx="8534400" cy="2514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EB80A"/>
              </a:buClr>
              <a:buSzPts val="2850"/>
              <a:buFont typeface="Noto Sans Symbols"/>
              <a:buNone/>
            </a:pPr>
            <a:r>
              <a:rPr b="1" i="1" lang="en-US" sz="3000" u="none">
                <a:solidFill>
                  <a:schemeClr val="dk1"/>
                </a:solidFill>
                <a:latin typeface="Calibri"/>
                <a:ea typeface="Calibri"/>
                <a:cs typeface="Calibri"/>
                <a:sym typeface="Calibri"/>
              </a:rPr>
              <a:t>Utilitarianism</a:t>
            </a:r>
            <a:endParaRPr/>
          </a:p>
          <a:p>
            <a:pPr indent="0" lvl="0" marL="0" marR="0" rtl="0" algn="l">
              <a:lnSpc>
                <a:spcPct val="100000"/>
              </a:lnSpc>
              <a:spcBef>
                <a:spcPts val="200"/>
              </a:spcBef>
              <a:spcAft>
                <a:spcPts val="0"/>
              </a:spcAft>
              <a:buClr>
                <a:srgbClr val="FEB80A"/>
              </a:buClr>
              <a:buSzPts val="950"/>
              <a:buFont typeface="Noto Sans Symbols"/>
              <a:buNone/>
            </a:pPr>
            <a:r>
              <a:t/>
            </a:r>
            <a:endParaRPr b="1" i="0" sz="1000" u="non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FEB80A"/>
              </a:buClr>
              <a:buSzPts val="2850"/>
              <a:buFont typeface="Noto Sans Symbols"/>
              <a:buNone/>
            </a:pPr>
            <a:r>
              <a:rPr b="1" i="0" lang="en-US" sz="3000" u="none">
                <a:solidFill>
                  <a:schemeClr val="dk1"/>
                </a:solidFill>
                <a:latin typeface="Calibri"/>
                <a:ea typeface="Calibri"/>
                <a:cs typeface="Calibri"/>
                <a:sym typeface="Calibri"/>
              </a:rPr>
              <a:t>	</a:t>
            </a:r>
            <a:r>
              <a:rPr b="1" i="1" lang="en-US" sz="2900" u="none">
                <a:solidFill>
                  <a:schemeClr val="dk1"/>
                </a:solidFill>
                <a:latin typeface="Calibri"/>
                <a:ea typeface="Calibri"/>
                <a:cs typeface="Calibri"/>
                <a:sym typeface="Calibri"/>
              </a:rPr>
              <a:t>Utility </a:t>
            </a:r>
            <a:r>
              <a:rPr b="1" i="0" lang="en-US" sz="2900" u="none">
                <a:solidFill>
                  <a:schemeClr val="dk1"/>
                </a:solidFill>
                <a:latin typeface="Calibri"/>
                <a:ea typeface="Calibri"/>
                <a:cs typeface="Calibri"/>
                <a:sym typeface="Calibri"/>
              </a:rPr>
              <a:t>is any net benefits produced by an action. The </a:t>
            </a:r>
            <a:r>
              <a:rPr b="1" i="1" lang="en-US" sz="2900" u="none">
                <a:solidFill>
                  <a:schemeClr val="dk1"/>
                </a:solidFill>
                <a:latin typeface="Calibri"/>
                <a:ea typeface="Calibri"/>
                <a:cs typeface="Calibri"/>
                <a:sym typeface="Calibri"/>
              </a:rPr>
              <a:t>principle of utility </a:t>
            </a:r>
            <a:r>
              <a:rPr b="1" i="0" lang="en-US" sz="2900" u="none">
                <a:solidFill>
                  <a:schemeClr val="dk1"/>
                </a:solidFill>
                <a:latin typeface="Calibri"/>
                <a:ea typeface="Calibri"/>
                <a:cs typeface="Calibri"/>
                <a:sym typeface="Calibri"/>
              </a:rPr>
              <a:t>affirms that actions or behaviors are right if they encourage happiness or pleasure, wrong if they generate unhappiness or pain.</a:t>
            </a:r>
            <a:endParaRPr/>
          </a:p>
          <a:p>
            <a:pPr indent="0" lvl="0" marL="0" marR="0" rtl="0" algn="l">
              <a:lnSpc>
                <a:spcPct val="100000"/>
              </a:lnSpc>
              <a:spcBef>
                <a:spcPts val="200"/>
              </a:spcBef>
              <a:spcAft>
                <a:spcPts val="0"/>
              </a:spcAft>
              <a:buClr>
                <a:srgbClr val="FEB80A"/>
              </a:buClr>
              <a:buSzPts val="950"/>
              <a:buFont typeface="Noto Sans Symbols"/>
              <a:buNone/>
            </a:pPr>
            <a:r>
              <a:t/>
            </a:r>
            <a:endParaRPr b="1" i="0" sz="1000" u="none">
              <a:solidFill>
                <a:schemeClr val="dk1"/>
              </a:solidFill>
              <a:latin typeface="Calibri"/>
              <a:ea typeface="Calibri"/>
              <a:cs typeface="Calibri"/>
              <a:sym typeface="Calibri"/>
            </a:endParaRPr>
          </a:p>
          <a:p>
            <a:pPr indent="0" lvl="0" marL="0" marR="0" rtl="0" algn="l">
              <a:lnSpc>
                <a:spcPct val="100000"/>
              </a:lnSpc>
              <a:spcBef>
                <a:spcPts val="600"/>
              </a:spcBef>
              <a:spcAft>
                <a:spcPts val="0"/>
              </a:spcAft>
              <a:buClr>
                <a:srgbClr val="FEB80A"/>
              </a:buClr>
              <a:buSzPts val="2850"/>
              <a:buFont typeface="Noto Sans Symbols"/>
              <a:buNone/>
            </a:pPr>
            <a:r>
              <a:rPr b="1" i="0" lang="en-US" sz="3000" u="none">
                <a:solidFill>
                  <a:schemeClr val="dk1"/>
                </a:solidFill>
                <a:latin typeface="Calibri"/>
                <a:ea typeface="Calibri"/>
                <a:cs typeface="Calibri"/>
                <a:sym typeface="Calibri"/>
              </a:rPr>
              <a:t>	</a:t>
            </a:r>
            <a:r>
              <a:rPr b="1" i="1" lang="en-US" sz="2800" u="none">
                <a:solidFill>
                  <a:schemeClr val="dk1"/>
                </a:solidFill>
                <a:latin typeface="Calibri"/>
                <a:ea typeface="Calibri"/>
                <a:cs typeface="Calibri"/>
                <a:sym typeface="Calibri"/>
              </a:rPr>
              <a:t>Utilitarianism </a:t>
            </a:r>
            <a:r>
              <a:rPr b="1" i="0" lang="en-US" sz="2800" u="none">
                <a:solidFill>
                  <a:schemeClr val="dk1"/>
                </a:solidFill>
                <a:latin typeface="Calibri"/>
                <a:ea typeface="Calibri"/>
                <a:cs typeface="Calibri"/>
                <a:sym typeface="Calibri"/>
              </a:rPr>
              <a:t>says that the RESULT or the CONSEQUENCE of an act is the real measure of whether it is good or bad. It attempts to answer the question about what a man ought to do. The answer to this is that he ought to act to create the best consequences. These consequences includes all of the good and bad. (actions are right if they are useful or for the benefit of the majority)</a:t>
            </a:r>
            <a:endParaRPr/>
          </a:p>
          <a:p>
            <a:pPr indent="-104140" lvl="0" marL="273050" marR="0" rtl="0" algn="l">
              <a:spcBef>
                <a:spcPts val="560"/>
              </a:spcBef>
              <a:spcAft>
                <a:spcPts val="0"/>
              </a:spcAft>
              <a:buClr>
                <a:srgbClr val="FEB80A"/>
              </a:buClr>
              <a:buSzPts val="2660"/>
              <a:buFont typeface="Noto Sans Symbols"/>
              <a:buNone/>
            </a:pPr>
            <a:r>
              <a:t/>
            </a:r>
            <a:endParaRPr b="1" i="0" sz="2800" u="non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 calcmode="lin" valueType="num">
                                      <p:cBhvr additive="base">
                                        <p:cTn dur="500"/>
                                        <p:tgtEl>
                                          <p:spTgt spid="239">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 calcmode="lin" valueType="num">
                                      <p:cBhvr additive="base">
                                        <p:cTn dur="500"/>
                                        <p:tgtEl>
                                          <p:spTgt spid="239">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 calcmode="lin" valueType="num">
                                      <p:cBhvr additive="base">
                                        <p:cTn dur="500"/>
                                        <p:tgtEl>
                                          <p:spTgt spid="239">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 calcmode="lin" valueType="num">
                                      <p:cBhvr additive="base">
                                        <p:cTn dur="500"/>
                                        <p:tgtEl>
                                          <p:spTgt spid="239">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anim calcmode="lin" valueType="num">
                                      <p:cBhvr additive="base">
                                        <p:cTn dur="500"/>
                                        <p:tgtEl>
                                          <p:spTgt spid="239">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anim calcmode="lin" valueType="num">
                                      <p:cBhvr additive="base">
                                        <p:cTn dur="500"/>
                                        <p:tgtEl>
                                          <p:spTgt spid="239">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grpSp>
        <p:nvGrpSpPr>
          <p:cNvPr id="245" name="Google Shape;245;p38"/>
          <p:cNvGrpSpPr/>
          <p:nvPr/>
        </p:nvGrpSpPr>
        <p:grpSpPr>
          <a:xfrm>
            <a:off x="1143000" y="228600"/>
            <a:ext cx="7696200" cy="6172200"/>
            <a:chOff x="1536" y="144"/>
            <a:chExt cx="4032" cy="3888"/>
          </a:xfrm>
        </p:grpSpPr>
        <p:pic>
          <p:nvPicPr>
            <p:cNvPr descr="Bentham2" id="246" name="Google Shape;246;p38"/>
            <p:cNvPicPr preferRelativeResize="0"/>
            <p:nvPr/>
          </p:nvPicPr>
          <p:blipFill rotWithShape="1">
            <a:blip r:embed="rId3">
              <a:alphaModFix/>
            </a:blip>
            <a:srcRect b="0" l="0" r="0" t="0"/>
            <a:stretch/>
          </p:blipFill>
          <p:spPr>
            <a:xfrm>
              <a:off x="1536" y="144"/>
              <a:ext cx="2736" cy="3888"/>
            </a:xfrm>
            <a:prstGeom prst="rect">
              <a:avLst/>
            </a:prstGeom>
            <a:noFill/>
            <a:ln>
              <a:noFill/>
            </a:ln>
          </p:spPr>
        </p:pic>
        <p:sp>
          <p:nvSpPr>
            <p:cNvPr id="247" name="Google Shape;247;p38"/>
            <p:cNvSpPr txBox="1"/>
            <p:nvPr/>
          </p:nvSpPr>
          <p:spPr>
            <a:xfrm>
              <a:off x="4272" y="2880"/>
              <a:ext cx="1296" cy="6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3000"/>
                <a:buFont typeface="Arial"/>
                <a:buNone/>
              </a:pPr>
              <a:r>
                <a:rPr b="0" i="0" lang="en-US" sz="3000" u="none">
                  <a:solidFill>
                    <a:schemeClr val="dk1"/>
                  </a:solidFill>
                  <a:latin typeface="Arial"/>
                  <a:ea typeface="Arial"/>
                  <a:cs typeface="Arial"/>
                  <a:sym typeface="Arial"/>
                </a:rPr>
                <a:t>Jeremy Bentham</a:t>
              </a:r>
              <a:endParaRPr/>
            </a:p>
          </p:txBody>
        </p:sp>
      </p:gr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9"/>
          <p:cNvSpPr txBox="1"/>
          <p:nvPr>
            <p:ph type="title"/>
          </p:nvPr>
        </p:nvSpPr>
        <p:spPr>
          <a:xfrm>
            <a:off x="317500" y="288925"/>
            <a:ext cx="8637587" cy="1311275"/>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Bentham’s Formulation of Utilitarianism</a:t>
            </a:r>
            <a:endParaRPr/>
          </a:p>
        </p:txBody>
      </p:sp>
      <p:sp>
        <p:nvSpPr>
          <p:cNvPr id="254" name="Google Shape;254;p39"/>
          <p:cNvSpPr txBox="1"/>
          <p:nvPr>
            <p:ph idx="1" type="body"/>
          </p:nvPr>
        </p:nvSpPr>
        <p:spPr>
          <a:xfrm>
            <a:off x="457200" y="1935162"/>
            <a:ext cx="8229600" cy="4389437"/>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FEB80A"/>
              </a:buClr>
              <a:buSzPts val="2850"/>
              <a:buFont typeface="Noto Sans Symbols"/>
              <a:buChar char="⚫"/>
            </a:pPr>
            <a:r>
              <a:rPr b="0" i="0" lang="en-US" sz="3000" u="none">
                <a:solidFill>
                  <a:schemeClr val="dk1"/>
                </a:solidFill>
                <a:latin typeface="Constantia"/>
                <a:ea typeface="Constantia"/>
                <a:cs typeface="Constantia"/>
                <a:sym typeface="Constantia"/>
              </a:rPr>
              <a:t>Man is under two great masters, pain and pleasure.</a:t>
            </a:r>
            <a:endParaRPr/>
          </a:p>
          <a:p>
            <a:pPr indent="-273050" lvl="0" marL="273050" rtl="0" algn="l">
              <a:lnSpc>
                <a:spcPct val="100000"/>
              </a:lnSpc>
              <a:spcBef>
                <a:spcPts val="600"/>
              </a:spcBef>
              <a:spcAft>
                <a:spcPts val="0"/>
              </a:spcAft>
              <a:buClr>
                <a:srgbClr val="FEB80A"/>
              </a:buClr>
              <a:buSzPts val="2850"/>
              <a:buFont typeface="Noto Sans Symbols"/>
              <a:buChar char="⚫"/>
            </a:pPr>
            <a:r>
              <a:rPr b="0" i="0" lang="en-US" sz="3000" u="none">
                <a:solidFill>
                  <a:schemeClr val="dk1"/>
                </a:solidFill>
                <a:latin typeface="Constantia"/>
                <a:ea typeface="Constantia"/>
                <a:cs typeface="Constantia"/>
                <a:sym typeface="Constantia"/>
              </a:rPr>
              <a:t>The great good that we should seek is happiness. </a:t>
            </a:r>
            <a:endParaRPr/>
          </a:p>
          <a:p>
            <a:pPr indent="-273050" lvl="0" marL="273050" rtl="0" algn="l">
              <a:lnSpc>
                <a:spcPct val="100000"/>
              </a:lnSpc>
              <a:spcBef>
                <a:spcPts val="600"/>
              </a:spcBef>
              <a:spcAft>
                <a:spcPts val="0"/>
              </a:spcAft>
              <a:buClr>
                <a:srgbClr val="FEB80A"/>
              </a:buClr>
              <a:buSzPts val="2850"/>
              <a:buFont typeface="Noto Sans Symbols"/>
              <a:buChar char="⚫"/>
            </a:pPr>
            <a:r>
              <a:rPr b="0" i="0" lang="en-US" sz="3000" u="none">
                <a:solidFill>
                  <a:schemeClr val="dk1"/>
                </a:solidFill>
                <a:latin typeface="Constantia"/>
                <a:ea typeface="Constantia"/>
                <a:cs typeface="Constantia"/>
                <a:sym typeface="Constantia"/>
              </a:rPr>
              <a:t>Those actions whose results increase happiness or diminish pain are good. They have “utility.”</a:t>
            </a:r>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0" st="0"/>
                                            </p:txEl>
                                          </p:spTgt>
                                        </p:tgtEl>
                                        <p:attrNameLst>
                                          <p:attrName>style.visibility</p:attrName>
                                        </p:attrNameLst>
                                      </p:cBhvr>
                                      <p:to>
                                        <p:strVal val="visible"/>
                                      </p:to>
                                    </p:set>
                                    <p:animEffect filter="fade" transition="in">
                                      <p:cBhvr>
                                        <p:cTn dur="500"/>
                                        <p:tgtEl>
                                          <p:spTgt spid="25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1" st="1"/>
                                            </p:txEl>
                                          </p:spTgt>
                                        </p:tgtEl>
                                        <p:attrNameLst>
                                          <p:attrName>style.visibility</p:attrName>
                                        </p:attrNameLst>
                                      </p:cBhvr>
                                      <p:to>
                                        <p:strVal val="visible"/>
                                      </p:to>
                                    </p:set>
                                    <p:animEffect filter="fade" transition="in">
                                      <p:cBhvr>
                                        <p:cTn dur="500"/>
                                        <p:tgtEl>
                                          <p:spTgt spid="25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xEl>
                                              <p:pRg end="2" st="2"/>
                                            </p:txEl>
                                          </p:spTgt>
                                        </p:tgtEl>
                                        <p:attrNameLst>
                                          <p:attrName>style.visibility</p:attrName>
                                        </p:attrNameLst>
                                      </p:cBhvr>
                                      <p:to>
                                        <p:strVal val="visible"/>
                                      </p:to>
                                    </p:set>
                                    <p:animEffect filter="fade" transition="in">
                                      <p:cBhvr>
                                        <p:cTn dur="500"/>
                                        <p:tgtEl>
                                          <p:spTgt spid="254">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0"/>
          <p:cNvSpPr txBox="1"/>
          <p:nvPr>
            <p:ph type="title"/>
          </p:nvPr>
        </p:nvSpPr>
        <p:spPr>
          <a:xfrm>
            <a:off x="582612" y="685800"/>
            <a:ext cx="8637587" cy="762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Application of Utilitarian Theory</a:t>
            </a:r>
            <a:r>
              <a:rPr b="1" i="0" lang="en-US" sz="5000" u="none">
                <a:solidFill>
                  <a:schemeClr val="dk1"/>
                </a:solidFill>
                <a:latin typeface="Calibri"/>
                <a:ea typeface="Calibri"/>
                <a:cs typeface="Calibri"/>
                <a:sym typeface="Calibri"/>
              </a:rPr>
              <a:t> </a:t>
            </a:r>
            <a:endParaRPr/>
          </a:p>
        </p:txBody>
      </p:sp>
      <p:sp>
        <p:nvSpPr>
          <p:cNvPr id="261" name="Google Shape;261;p40"/>
          <p:cNvSpPr txBox="1"/>
          <p:nvPr>
            <p:ph idx="1" type="body"/>
          </p:nvPr>
        </p:nvSpPr>
        <p:spPr>
          <a:xfrm>
            <a:off x="533400" y="1828800"/>
            <a:ext cx="3886200" cy="5105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FEB80A"/>
              </a:buClr>
              <a:buSzPts val="3040"/>
              <a:buFont typeface="Noto Sans Symbols"/>
              <a:buChar char="⚫"/>
            </a:pPr>
            <a:r>
              <a:rPr b="0" i="0" lang="en-US" sz="3200" u="none">
                <a:solidFill>
                  <a:schemeClr val="dk1"/>
                </a:solidFill>
                <a:latin typeface="Constantia"/>
                <a:ea typeface="Constantia"/>
                <a:cs typeface="Constantia"/>
                <a:sym typeface="Constantia"/>
              </a:rPr>
              <a:t>A) You attempt to help an elderly man across the street. He gets across safely.</a:t>
            </a:r>
            <a:endParaRPr/>
          </a:p>
          <a:p>
            <a:pPr indent="-273050" lvl="0" marL="273050" rtl="0" algn="l">
              <a:lnSpc>
                <a:spcPct val="100000"/>
              </a:lnSpc>
              <a:spcBef>
                <a:spcPts val="640"/>
              </a:spcBef>
              <a:spcAft>
                <a:spcPts val="0"/>
              </a:spcAft>
              <a:buClr>
                <a:srgbClr val="FEB80A"/>
              </a:buClr>
              <a:buSzPts val="3040"/>
              <a:buFont typeface="Noto Sans Symbols"/>
              <a:buChar char="⚫"/>
            </a:pPr>
            <a:r>
              <a:rPr b="0" i="0" lang="en-US" sz="3200" u="none">
                <a:solidFill>
                  <a:schemeClr val="dk1"/>
                </a:solidFill>
                <a:latin typeface="Constantia"/>
                <a:ea typeface="Constantia"/>
                <a:cs typeface="Constantia"/>
                <a:sym typeface="Constantia"/>
              </a:rPr>
              <a:t>Conclusion: the Act was a good act.</a:t>
            </a:r>
            <a:endParaRPr/>
          </a:p>
        </p:txBody>
      </p:sp>
      <p:sp>
        <p:nvSpPr>
          <p:cNvPr id="262" name="Google Shape;262;p40"/>
          <p:cNvSpPr txBox="1"/>
          <p:nvPr>
            <p:ph idx="1" type="body"/>
          </p:nvPr>
        </p:nvSpPr>
        <p:spPr>
          <a:xfrm>
            <a:off x="4572000" y="1524000"/>
            <a:ext cx="4383087" cy="51054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FEB80A"/>
              </a:buClr>
              <a:buSzPts val="2470"/>
              <a:buFont typeface="Noto Sans Symbols"/>
              <a:buChar char="⚫"/>
            </a:pPr>
            <a:r>
              <a:rPr b="0" i="0" lang="en-US" sz="2600" u="none">
                <a:solidFill>
                  <a:schemeClr val="dk1"/>
                </a:solidFill>
                <a:latin typeface="Constantia"/>
                <a:ea typeface="Constantia"/>
                <a:cs typeface="Constantia"/>
                <a:sym typeface="Constantia"/>
              </a:rPr>
              <a:t>B) </a:t>
            </a:r>
            <a:r>
              <a:rPr b="0" i="0" lang="en-US" sz="3200" u="none">
                <a:solidFill>
                  <a:schemeClr val="dk1"/>
                </a:solidFill>
                <a:latin typeface="Constantia"/>
                <a:ea typeface="Constantia"/>
                <a:cs typeface="Constantia"/>
                <a:sym typeface="Constantia"/>
              </a:rPr>
              <a:t>You attempt to help an elderly man across the street. You stumble as you go, he is knocked into the path of a car, and is hurt.</a:t>
            </a:r>
            <a:endParaRPr/>
          </a:p>
          <a:p>
            <a:pPr indent="-273050" lvl="0" marL="273050" rtl="0" algn="l">
              <a:lnSpc>
                <a:spcPct val="100000"/>
              </a:lnSpc>
              <a:spcBef>
                <a:spcPts val="640"/>
              </a:spcBef>
              <a:spcAft>
                <a:spcPts val="0"/>
              </a:spcAft>
              <a:buClr>
                <a:srgbClr val="FEB80A"/>
              </a:buClr>
              <a:buSzPts val="3040"/>
              <a:buFont typeface="Noto Sans Symbols"/>
              <a:buChar char="⚫"/>
            </a:pPr>
            <a:r>
              <a:rPr b="0" i="0" lang="en-US" sz="3200" u="none">
                <a:solidFill>
                  <a:schemeClr val="dk1"/>
                </a:solidFill>
                <a:latin typeface="Constantia"/>
                <a:ea typeface="Constantia"/>
                <a:cs typeface="Constantia"/>
                <a:sym typeface="Constantia"/>
              </a:rPr>
              <a:t>Conclusion: The Act was a bad act.</a:t>
            </a:r>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0" st="0"/>
                                            </p:txEl>
                                          </p:spTgt>
                                        </p:tgtEl>
                                        <p:attrNameLst>
                                          <p:attrName>style.visibility</p:attrName>
                                        </p:attrNameLst>
                                      </p:cBhvr>
                                      <p:to>
                                        <p:strVal val="visible"/>
                                      </p:to>
                                    </p:set>
                                    <p:animEffect filter="fade" transition="in">
                                      <p:cBhvr>
                                        <p:cTn dur="500"/>
                                        <p:tgtEl>
                                          <p:spTgt spid="2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xEl>
                                              <p:pRg end="1" st="1"/>
                                            </p:txEl>
                                          </p:spTgt>
                                        </p:tgtEl>
                                        <p:attrNameLst>
                                          <p:attrName>style.visibility</p:attrName>
                                        </p:attrNameLst>
                                      </p:cBhvr>
                                      <p:to>
                                        <p:strVal val="visible"/>
                                      </p:to>
                                    </p:set>
                                    <p:animEffect filter="fade" transition="in">
                                      <p:cBhvr>
                                        <p:cTn dur="500"/>
                                        <p:tgtEl>
                                          <p:spTgt spid="2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animEffect filter="fade" transition="in">
                                      <p:cBhvr>
                                        <p:cTn dur="500"/>
                                        <p:tgtEl>
                                          <p:spTgt spid="2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1" st="1"/>
                                            </p:txEl>
                                          </p:spTgt>
                                        </p:tgtEl>
                                        <p:attrNameLst>
                                          <p:attrName>style.visibility</p:attrName>
                                        </p:attrNameLst>
                                      </p:cBhvr>
                                      <p:to>
                                        <p:strVal val="visible"/>
                                      </p:to>
                                    </p:set>
                                    <p:animEffect filter="fade" transition="in">
                                      <p:cBhvr>
                                        <p:cTn dur="500"/>
                                        <p:tgtEl>
                                          <p:spTgt spid="262">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1"/>
          <p:cNvSpPr txBox="1"/>
          <p:nvPr>
            <p:ph type="title"/>
          </p:nvPr>
        </p:nvSpPr>
        <p:spPr>
          <a:xfrm>
            <a:off x="506412" y="822325"/>
            <a:ext cx="8637587" cy="701675"/>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Application of Utilitarian Theory</a:t>
            </a:r>
            <a:endParaRPr/>
          </a:p>
        </p:txBody>
      </p:sp>
      <p:sp>
        <p:nvSpPr>
          <p:cNvPr id="269" name="Google Shape;269;p41"/>
          <p:cNvSpPr txBox="1"/>
          <p:nvPr>
            <p:ph idx="1" type="body"/>
          </p:nvPr>
        </p:nvSpPr>
        <p:spPr>
          <a:xfrm>
            <a:off x="381000" y="1828800"/>
            <a:ext cx="8420100" cy="4876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FEB80A"/>
              </a:buClr>
              <a:buSzPts val="2850"/>
              <a:buFont typeface="Noto Sans Symbols"/>
              <a:buChar char="⚫"/>
            </a:pPr>
            <a:r>
              <a:rPr b="0" i="0" lang="en-US" sz="3000" u="none">
                <a:solidFill>
                  <a:schemeClr val="dk1"/>
                </a:solidFill>
                <a:latin typeface="Constantia"/>
                <a:ea typeface="Constantia"/>
                <a:cs typeface="Constantia"/>
                <a:sym typeface="Constantia"/>
              </a:rPr>
              <a:t>If you can use eighty soldiers as a trap in war, and thereby attack an enemy force and kill several hundred enemy soldiers, that is a morally good choice even though the eighty might be lost.</a:t>
            </a:r>
            <a:endParaRPr/>
          </a:p>
          <a:p>
            <a:pPr indent="-273050" lvl="0" marL="273050" rtl="0" algn="l">
              <a:lnSpc>
                <a:spcPct val="100000"/>
              </a:lnSpc>
              <a:spcBef>
                <a:spcPts val="600"/>
              </a:spcBef>
              <a:spcAft>
                <a:spcPts val="0"/>
              </a:spcAft>
              <a:buClr>
                <a:srgbClr val="FEB80A"/>
              </a:buClr>
              <a:buSzPts val="2850"/>
              <a:buFont typeface="Noto Sans Symbols"/>
              <a:buChar char="⚫"/>
            </a:pPr>
            <a:r>
              <a:rPr b="0" i="0" lang="en-US" sz="3000" u="none">
                <a:solidFill>
                  <a:schemeClr val="dk1"/>
                </a:solidFill>
                <a:latin typeface="Constantia"/>
                <a:ea typeface="Constantia"/>
                <a:cs typeface="Constantia"/>
                <a:sym typeface="Constantia"/>
              </a:rPr>
              <a:t>If lying or stealing will actually bring about more happiness and/or reduce pain, Act Utilitarianism says we </a:t>
            </a:r>
            <a:r>
              <a:rPr b="0" i="0" lang="en-US" sz="3000" u="sng">
                <a:solidFill>
                  <a:schemeClr val="dk1"/>
                </a:solidFill>
                <a:latin typeface="Constantia"/>
                <a:ea typeface="Constantia"/>
                <a:cs typeface="Constantia"/>
                <a:sym typeface="Constantia"/>
              </a:rPr>
              <a:t>should</a:t>
            </a:r>
            <a:r>
              <a:rPr b="0" i="0" lang="en-US" sz="3000" u="none">
                <a:solidFill>
                  <a:schemeClr val="dk1"/>
                </a:solidFill>
                <a:latin typeface="Constantia"/>
                <a:ea typeface="Constantia"/>
                <a:cs typeface="Constantia"/>
                <a:sym typeface="Constantia"/>
              </a:rPr>
              <a:t> lie and steal in those cases.</a:t>
            </a:r>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0" st="0"/>
                                            </p:txEl>
                                          </p:spTgt>
                                        </p:tgtEl>
                                        <p:attrNameLst>
                                          <p:attrName>style.visibility</p:attrName>
                                        </p:attrNameLst>
                                      </p:cBhvr>
                                      <p:to>
                                        <p:strVal val="visible"/>
                                      </p:to>
                                    </p:set>
                                    <p:animEffect filter="fade" transition="in">
                                      <p:cBhvr>
                                        <p:cTn dur="500"/>
                                        <p:tgtEl>
                                          <p:spTgt spid="2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xEl>
                                              <p:pRg end="1" st="1"/>
                                            </p:txEl>
                                          </p:spTgt>
                                        </p:tgtEl>
                                        <p:attrNameLst>
                                          <p:attrName>style.visibility</p:attrName>
                                        </p:attrNameLst>
                                      </p:cBhvr>
                                      <p:to>
                                        <p:strVal val="visible"/>
                                      </p:to>
                                    </p:set>
                                    <p:animEffect filter="fade" transition="in">
                                      <p:cBhvr>
                                        <p:cTn dur="500"/>
                                        <p:tgtEl>
                                          <p:spTgt spid="269">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2"/>
          <p:cNvSpPr txBox="1"/>
          <p:nvPr>
            <p:ph type="title"/>
          </p:nvPr>
        </p:nvSpPr>
        <p:spPr>
          <a:xfrm>
            <a:off x="354012" y="990600"/>
            <a:ext cx="8637587" cy="7620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1"/>
              </a:buClr>
              <a:buSzPts val="5000"/>
              <a:buFont typeface="Calibri"/>
              <a:buNone/>
            </a:pPr>
            <a:r>
              <a:rPr b="1" i="0" lang="en-US" sz="5000" u="none">
                <a:solidFill>
                  <a:schemeClr val="dk1"/>
                </a:solidFill>
                <a:latin typeface="Calibri"/>
                <a:ea typeface="Calibri"/>
                <a:cs typeface="Calibri"/>
                <a:sym typeface="Calibri"/>
              </a:rPr>
              <a:t>Criticisms of Bentham’s theory</a:t>
            </a:r>
            <a:endParaRPr/>
          </a:p>
        </p:txBody>
      </p:sp>
      <p:sp>
        <p:nvSpPr>
          <p:cNvPr id="276" name="Google Shape;276;p42"/>
          <p:cNvSpPr txBox="1"/>
          <p:nvPr>
            <p:ph idx="1" type="body"/>
          </p:nvPr>
        </p:nvSpPr>
        <p:spPr>
          <a:xfrm>
            <a:off x="381000" y="1905000"/>
            <a:ext cx="8496300" cy="5257800"/>
          </a:xfrm>
          <a:prstGeom prst="rect">
            <a:avLst/>
          </a:prstGeom>
          <a:noFill/>
          <a:ln>
            <a:noFill/>
          </a:ln>
        </p:spPr>
        <p:txBody>
          <a:bodyPr anchorCtr="0" anchor="t" bIns="45700" lIns="91425" spcFirstLastPara="1" rIns="91425" wrap="square" tIns="45700">
            <a:noAutofit/>
          </a:bodyPr>
          <a:lstStyle/>
          <a:p>
            <a:pPr indent="-111125" lvl="0" marL="111125" rtl="0" algn="l">
              <a:lnSpc>
                <a:spcPct val="100000"/>
              </a:lnSpc>
              <a:spcBef>
                <a:spcPts val="0"/>
              </a:spcBef>
              <a:spcAft>
                <a:spcPts val="0"/>
              </a:spcAft>
              <a:buSzPts val="2850"/>
              <a:buNone/>
            </a:pPr>
            <a:r>
              <a:rPr b="0" i="0" lang="en-US" sz="3000" u="none">
                <a:solidFill>
                  <a:schemeClr val="dk1"/>
                </a:solidFill>
                <a:latin typeface="Constantia"/>
                <a:ea typeface="Constantia"/>
                <a:cs typeface="Constantia"/>
                <a:sym typeface="Constantia"/>
              </a:rPr>
              <a:t>Bentham’s theory could mean that if 10 people would be happy watching a man being eaten by wild dogs, it would be a morally good thing for the 10 men to kidnap someone (especially someone whose death would not cause grief to many others) and throw the man into a cage of wild, hungry dogs.</a:t>
            </a:r>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xEl>
                                              <p:pRg end="0" st="0"/>
                                            </p:txEl>
                                          </p:spTgt>
                                        </p:tgtEl>
                                        <p:attrNameLst>
                                          <p:attrName>style.visibility</p:attrName>
                                        </p:attrNameLst>
                                      </p:cBhvr>
                                      <p:to>
                                        <p:strVal val="visible"/>
                                      </p:to>
                                    </p:set>
                                    <p:animEffect filter="fade" transition="in">
                                      <p:cBhvr>
                                        <p:cTn dur="500"/>
                                        <p:tgtEl>
                                          <p:spTgt spid="27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3"/>
          <p:cNvSpPr txBox="1"/>
          <p:nvPr>
            <p:ph type="title"/>
          </p:nvPr>
        </p:nvSpPr>
        <p:spPr>
          <a:xfrm>
            <a:off x="609600" y="822325"/>
            <a:ext cx="8343900" cy="1311275"/>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John Stuart Mill’s Adjustments to Utilitarianism</a:t>
            </a:r>
            <a:endParaRPr/>
          </a:p>
        </p:txBody>
      </p:sp>
      <p:sp>
        <p:nvSpPr>
          <p:cNvPr id="283" name="Google Shape;283;p43"/>
          <p:cNvSpPr txBox="1"/>
          <p:nvPr>
            <p:ph idx="1" type="body"/>
          </p:nvPr>
        </p:nvSpPr>
        <p:spPr>
          <a:xfrm>
            <a:off x="304800" y="2362200"/>
            <a:ext cx="8574087" cy="4876800"/>
          </a:xfrm>
          <a:prstGeom prst="rect">
            <a:avLst/>
          </a:prstGeom>
          <a:noFill/>
          <a:ln>
            <a:noFill/>
          </a:ln>
        </p:spPr>
        <p:txBody>
          <a:bodyPr anchorCtr="0" anchor="t" bIns="45700" lIns="91425" spcFirstLastPara="1" rIns="91425" wrap="square" tIns="45700">
            <a:noAutofit/>
          </a:bodyPr>
          <a:lstStyle/>
          <a:p>
            <a:pPr indent="-273050" lvl="0" marL="273050" rtl="0" algn="l">
              <a:lnSpc>
                <a:spcPct val="100000"/>
              </a:lnSpc>
              <a:spcBef>
                <a:spcPts val="0"/>
              </a:spcBef>
              <a:spcAft>
                <a:spcPts val="0"/>
              </a:spcAft>
              <a:buClr>
                <a:srgbClr val="FEB80A"/>
              </a:buClr>
              <a:buSzPts val="2850"/>
              <a:buFont typeface="Noto Sans Symbols"/>
              <a:buChar char="⚫"/>
            </a:pPr>
            <a:r>
              <a:rPr b="0" i="0" lang="en-US" sz="3000" u="none">
                <a:solidFill>
                  <a:schemeClr val="dk1"/>
                </a:solidFill>
                <a:latin typeface="Constantia"/>
                <a:ea typeface="Constantia"/>
                <a:cs typeface="Constantia"/>
                <a:sym typeface="Constantia"/>
              </a:rPr>
              <a:t>Mill argues that we must consider the </a:t>
            </a:r>
            <a:r>
              <a:rPr b="1" i="0" lang="en-US" sz="3000" u="none">
                <a:solidFill>
                  <a:schemeClr val="dk1"/>
                </a:solidFill>
                <a:latin typeface="Constantia"/>
                <a:ea typeface="Constantia"/>
                <a:cs typeface="Constantia"/>
                <a:sym typeface="Constantia"/>
              </a:rPr>
              <a:t>quality</a:t>
            </a:r>
            <a:r>
              <a:rPr b="0" i="0" lang="en-US" sz="3000" u="none">
                <a:solidFill>
                  <a:schemeClr val="dk1"/>
                </a:solidFill>
                <a:latin typeface="Constantia"/>
                <a:ea typeface="Constantia"/>
                <a:cs typeface="Constantia"/>
                <a:sym typeface="Constantia"/>
              </a:rPr>
              <a:t> of the happiness, not merely the </a:t>
            </a:r>
            <a:r>
              <a:rPr b="1" i="0" lang="en-US" sz="3000" u="none">
                <a:solidFill>
                  <a:schemeClr val="dk1"/>
                </a:solidFill>
                <a:latin typeface="Constantia"/>
                <a:ea typeface="Constantia"/>
                <a:cs typeface="Constantia"/>
                <a:sym typeface="Constantia"/>
              </a:rPr>
              <a:t>quantity</a:t>
            </a:r>
            <a:r>
              <a:rPr b="0" i="0" lang="en-US" sz="3000" u="none">
                <a:solidFill>
                  <a:schemeClr val="dk1"/>
                </a:solidFill>
                <a:latin typeface="Constantia"/>
                <a:ea typeface="Constantia"/>
                <a:cs typeface="Constantia"/>
                <a:sym typeface="Constantia"/>
              </a:rPr>
              <a:t>.</a:t>
            </a:r>
            <a:endParaRPr/>
          </a:p>
          <a:p>
            <a:pPr indent="-273050" lvl="0" marL="273050" rtl="0" algn="l">
              <a:lnSpc>
                <a:spcPct val="100000"/>
              </a:lnSpc>
              <a:spcBef>
                <a:spcPts val="600"/>
              </a:spcBef>
              <a:spcAft>
                <a:spcPts val="0"/>
              </a:spcAft>
              <a:buClr>
                <a:srgbClr val="FEB80A"/>
              </a:buClr>
              <a:buSzPts val="2850"/>
              <a:buFont typeface="Noto Sans Symbols"/>
              <a:buChar char="⚫"/>
            </a:pPr>
            <a:r>
              <a:rPr b="0" i="0" lang="en-US" sz="3000" u="none">
                <a:solidFill>
                  <a:schemeClr val="dk1"/>
                </a:solidFill>
                <a:latin typeface="Constantia"/>
                <a:ea typeface="Constantia"/>
                <a:cs typeface="Constantia"/>
                <a:sym typeface="Constantia"/>
              </a:rPr>
              <a:t>For example, some might find happiness with a pitcher of beer and a pizza.  Others may find happiness watching a fine Shakespearean play. The </a:t>
            </a:r>
            <a:r>
              <a:rPr b="1" i="0" lang="en-US" sz="3000" u="none">
                <a:solidFill>
                  <a:schemeClr val="dk1"/>
                </a:solidFill>
                <a:latin typeface="Constantia"/>
                <a:ea typeface="Constantia"/>
                <a:cs typeface="Constantia"/>
                <a:sym typeface="Constantia"/>
              </a:rPr>
              <a:t>quality</a:t>
            </a:r>
            <a:r>
              <a:rPr b="0" i="0" lang="en-US" sz="3000" u="none">
                <a:solidFill>
                  <a:schemeClr val="dk1"/>
                </a:solidFill>
                <a:latin typeface="Constantia"/>
                <a:ea typeface="Constantia"/>
                <a:cs typeface="Constantia"/>
                <a:sym typeface="Constantia"/>
              </a:rPr>
              <a:t> of happiness is greater with the latter. </a:t>
            </a:r>
            <a:endParaRPr/>
          </a:p>
        </p:txBody>
      </p:sp>
    </p:spTree>
  </p:cSld>
  <p:clrMapOvr>
    <a:masterClrMapping/>
  </p:clrMapOvr>
  <p:transition spd="slow">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0" st="0"/>
                                            </p:txEl>
                                          </p:spTgt>
                                        </p:tgtEl>
                                        <p:attrNameLst>
                                          <p:attrName>style.visibility</p:attrName>
                                        </p:attrNameLst>
                                      </p:cBhvr>
                                      <p:to>
                                        <p:strVal val="visible"/>
                                      </p:to>
                                    </p:set>
                                    <p:animEffect filter="fade" transition="in">
                                      <p:cBhvr>
                                        <p:cTn dur="500"/>
                                        <p:tgtEl>
                                          <p:spTgt spid="2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xEl>
                                              <p:pRg end="1" st="1"/>
                                            </p:txEl>
                                          </p:spTgt>
                                        </p:tgtEl>
                                        <p:attrNameLst>
                                          <p:attrName>style.visibility</p:attrName>
                                        </p:attrNameLst>
                                      </p:cBhvr>
                                      <p:to>
                                        <p:strVal val="visible"/>
                                      </p:to>
                                    </p:set>
                                    <p:animEffect filter="fade" transition="in">
                                      <p:cBhvr>
                                        <p:cTn dur="500"/>
                                        <p:tgtEl>
                                          <p:spTgt spid="283">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4"/>
          <p:cNvSpPr txBox="1"/>
          <p:nvPr>
            <p:ph type="title"/>
          </p:nvPr>
        </p:nvSpPr>
        <p:spPr>
          <a:xfrm>
            <a:off x="354012" y="838200"/>
            <a:ext cx="8637587" cy="701675"/>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Clr>
                <a:schemeClr val="dk1"/>
              </a:buClr>
              <a:buSzPts val="4000"/>
              <a:buFont typeface="Calibri"/>
              <a:buNone/>
            </a:pPr>
            <a:r>
              <a:rPr b="1" i="0" lang="en-US" sz="4000" u="none">
                <a:solidFill>
                  <a:schemeClr val="dk1"/>
                </a:solidFill>
                <a:latin typeface="Calibri"/>
                <a:ea typeface="Calibri"/>
                <a:cs typeface="Calibri"/>
                <a:sym typeface="Calibri"/>
              </a:rPr>
              <a:t>Criticisms of Utilitarianism</a:t>
            </a:r>
            <a:endParaRPr/>
          </a:p>
        </p:txBody>
      </p:sp>
      <p:sp>
        <p:nvSpPr>
          <p:cNvPr id="290" name="Google Shape;290;p44"/>
          <p:cNvSpPr txBox="1"/>
          <p:nvPr>
            <p:ph idx="1" type="body"/>
          </p:nvPr>
        </p:nvSpPr>
        <p:spPr>
          <a:xfrm>
            <a:off x="301625" y="1676400"/>
            <a:ext cx="8385175" cy="4495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850"/>
              <a:buNone/>
            </a:pPr>
            <a:r>
              <a:rPr b="0" i="0" lang="en-US" sz="3000" u="none">
                <a:solidFill>
                  <a:schemeClr val="dk1"/>
                </a:solidFill>
                <a:latin typeface="Constantia"/>
                <a:ea typeface="Constantia"/>
                <a:cs typeface="Constantia"/>
                <a:sym typeface="Constantia"/>
              </a:rPr>
              <a:t>If I am to bring the greatest happiness to the greatest number, not putting my own happiness above others, that may lead to a dilemma.  I live in a neighborhood where 83% of my neighbors use drugs. I could make them most happy by helping supply them with cheap drugs, but I feel uncomfortable doing that. What should a utilitarian do?</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animEffect filter="fade" transition="in">
                                      <p:cBhvr>
                                        <p:cTn dur="500"/>
                                        <p:tgtEl>
                                          <p:spTgt spid="29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low">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2_Flow">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Flow">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Flow">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